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HK Grotesk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22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696B71-602E-44A3-B36C-0A2AD4A7B747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C6A58B-63E3-48CD-84E0-0D9E20B8C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408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03935" y="565150"/>
            <a:ext cx="11158445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>
                <a:solidFill>
                  <a:srgbClr val="B04B4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K</a:t>
            </a:r>
            <a:r>
              <a:rPr lang="en-US" sz="6999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REATIVE </a:t>
            </a:r>
            <a:r>
              <a:rPr lang="en-US" sz="6999" b="1">
                <a:solidFill>
                  <a:srgbClr val="B04B4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</a:t>
            </a:r>
            <a:r>
              <a:rPr lang="en-US" sz="6999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ENESIS 2026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891688" y="3122391"/>
            <a:ext cx="5661778" cy="5044403"/>
            <a:chOff x="0" y="0"/>
            <a:chExt cx="912277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12277" cy="812800"/>
            </a:xfrm>
            <a:custGeom>
              <a:avLst/>
              <a:gdLst/>
              <a:ahLst/>
              <a:cxnLst/>
              <a:rect l="l" t="t" r="r" b="b"/>
              <a:pathLst>
                <a:path w="912277" h="812800">
                  <a:moveTo>
                    <a:pt x="0" y="0"/>
                  </a:moveTo>
                  <a:lnTo>
                    <a:pt x="912277" y="0"/>
                  </a:lnTo>
                  <a:lnTo>
                    <a:pt x="912277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4086" r="-4086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6261748" y="2630265"/>
            <a:ext cx="4711052" cy="5769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TITLE PAGE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4534" y="3692254"/>
            <a:ext cx="11353022" cy="6206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63595" lvl="1" indent="-431797">
              <a:lnSpc>
                <a:spcPts val="4399"/>
              </a:lnSpc>
              <a:buFont typeface="Arial"/>
              <a:buChar char="•"/>
            </a:pPr>
            <a:r>
              <a:rPr lang="en-US" sz="3999" b="1" dirty="0">
                <a:solidFill>
                  <a:srgbClr val="FFFFFF"/>
                </a:solidFill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PROBLEM STATEMENT TITLE :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ased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edication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dherence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racker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K Grotesk Bold"/>
            </a:endParaRPr>
          </a:p>
          <a:p>
            <a:pPr marL="863595" lvl="1" indent="-431797">
              <a:lnSpc>
                <a:spcPts val="4399"/>
              </a:lnSpc>
              <a:buFont typeface="Arial"/>
              <a:buChar char="•"/>
            </a:pPr>
            <a:endParaRPr lang="en-US" sz="3999" b="1" dirty="0">
              <a:solidFill>
                <a:srgbClr val="FFFFFF"/>
              </a:solidFill>
              <a:latin typeface="Times New Roman" panose="02020603050405020304" pitchFamily="18" charset="0"/>
              <a:ea typeface="HK Grotesk Bold"/>
              <a:cs typeface="Times New Roman" panose="02020603050405020304" pitchFamily="18" charset="0"/>
              <a:sym typeface="HK Grotesk Bold"/>
            </a:endParaRPr>
          </a:p>
          <a:p>
            <a:pPr marL="863595" lvl="1" indent="-431797" algn="l">
              <a:lnSpc>
                <a:spcPts val="4399"/>
              </a:lnSpc>
              <a:buFont typeface="Arial"/>
              <a:buChar char="•"/>
            </a:pPr>
            <a:r>
              <a:rPr lang="en-US" sz="3999" b="1" dirty="0">
                <a:solidFill>
                  <a:srgbClr val="FFFFFF"/>
                </a:solidFill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DOMAIN NAME : </a:t>
            </a:r>
            <a:r>
              <a:rPr lang="en-US" sz="3999" b="1" dirty="0">
                <a:solidFill>
                  <a:srgbClr val="FF0000"/>
                </a:solidFill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H</a:t>
            </a:r>
            <a:r>
              <a:rPr lang="en-US" sz="3999" b="1" dirty="0">
                <a:solidFill>
                  <a:srgbClr val="FFFFFF"/>
                </a:solidFill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ealth </a:t>
            </a:r>
            <a:r>
              <a:rPr lang="en-US" sz="3999" b="1" dirty="0">
                <a:solidFill>
                  <a:srgbClr val="FF0000"/>
                </a:solidFill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C</a:t>
            </a:r>
            <a:r>
              <a:rPr lang="en-US" sz="3999" b="1" dirty="0">
                <a:solidFill>
                  <a:srgbClr val="FFFFFF"/>
                </a:solidFill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are </a:t>
            </a:r>
            <a:r>
              <a:rPr lang="en-US" sz="3999" b="1" dirty="0">
                <a:solidFill>
                  <a:srgbClr val="FF0000"/>
                </a:solidFill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T</a:t>
            </a:r>
            <a:r>
              <a:rPr lang="en-US" sz="3999" b="1" dirty="0">
                <a:solidFill>
                  <a:srgbClr val="FFFFFF"/>
                </a:solidFill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echnology</a:t>
            </a:r>
          </a:p>
          <a:p>
            <a:pPr algn="l">
              <a:lnSpc>
                <a:spcPts val="4399"/>
              </a:lnSpc>
            </a:pPr>
            <a:endParaRPr lang="en-US" sz="3999" b="1" dirty="0">
              <a:solidFill>
                <a:srgbClr val="FFFFFF"/>
              </a:solidFill>
              <a:latin typeface="Times New Roman" panose="02020603050405020304" pitchFamily="18" charset="0"/>
              <a:ea typeface="HK Grotesk Bold"/>
              <a:cs typeface="Times New Roman" panose="02020603050405020304" pitchFamily="18" charset="0"/>
              <a:sym typeface="HK Grotesk Bold"/>
            </a:endParaRPr>
          </a:p>
          <a:p>
            <a:pPr marL="863595" lvl="1" indent="-431797" algn="l">
              <a:lnSpc>
                <a:spcPts val="4399"/>
              </a:lnSpc>
              <a:buFont typeface="Arial"/>
              <a:buChar char="•"/>
            </a:pPr>
            <a:r>
              <a:rPr lang="en-US" sz="3999" b="1" dirty="0">
                <a:solidFill>
                  <a:srgbClr val="FFFFFF"/>
                </a:solidFill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PROBLEM STATEMENT: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ased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edication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dherence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racker</a:t>
            </a:r>
            <a:endParaRPr lang="en-US" sz="3999" b="1" dirty="0">
              <a:solidFill>
                <a:srgbClr val="FFFFFF"/>
              </a:solidFill>
              <a:latin typeface="Times New Roman" panose="02020603050405020304" pitchFamily="18" charset="0"/>
              <a:ea typeface="HK Grotesk Bold"/>
              <a:cs typeface="Times New Roman" panose="02020603050405020304" pitchFamily="18" charset="0"/>
              <a:sym typeface="HK Grotesk Bold"/>
            </a:endParaRPr>
          </a:p>
          <a:p>
            <a:pPr algn="l">
              <a:lnSpc>
                <a:spcPts val="4399"/>
              </a:lnSpc>
            </a:pPr>
            <a:endParaRPr lang="en-US" sz="3999" b="1" dirty="0">
              <a:solidFill>
                <a:srgbClr val="FFFFFF"/>
              </a:solidFill>
              <a:latin typeface="Times New Roman" panose="02020603050405020304" pitchFamily="18" charset="0"/>
              <a:ea typeface="HK Grotesk Bold"/>
              <a:cs typeface="Times New Roman" panose="02020603050405020304" pitchFamily="18" charset="0"/>
              <a:sym typeface="HK Grotesk Bold"/>
            </a:endParaRPr>
          </a:p>
          <a:p>
            <a:pPr marL="863595" lvl="1" indent="-431797" algn="l">
              <a:lnSpc>
                <a:spcPts val="4399"/>
              </a:lnSpc>
              <a:buFont typeface="Arial"/>
              <a:buChar char="•"/>
            </a:pPr>
            <a:r>
              <a:rPr lang="en-US" sz="3999" b="1" dirty="0">
                <a:solidFill>
                  <a:srgbClr val="FFFFFF"/>
                </a:solidFill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TEAM-ID: </a:t>
            </a:r>
            <a:r>
              <a:rPr lang="en-US" sz="3999" b="1" dirty="0">
                <a:solidFill>
                  <a:srgbClr val="FF0000"/>
                </a:solidFill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K</a:t>
            </a:r>
            <a:r>
              <a:rPr lang="en-US" sz="3999" b="1" dirty="0">
                <a:solidFill>
                  <a:srgbClr val="FFFFFF"/>
                </a:solidFill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GH224</a:t>
            </a:r>
          </a:p>
          <a:p>
            <a:pPr algn="l">
              <a:lnSpc>
                <a:spcPts val="4399"/>
              </a:lnSpc>
            </a:pPr>
            <a:endParaRPr lang="en-US" sz="3999" b="1" dirty="0">
              <a:solidFill>
                <a:srgbClr val="FFFFFF"/>
              </a:solidFill>
              <a:latin typeface="Times New Roman" panose="02020603050405020304" pitchFamily="18" charset="0"/>
              <a:ea typeface="HK Grotesk Bold"/>
              <a:cs typeface="Times New Roman" panose="02020603050405020304" pitchFamily="18" charset="0"/>
              <a:sym typeface="HK Grotesk Bold"/>
            </a:endParaRPr>
          </a:p>
          <a:p>
            <a:pPr marL="863595" lvl="1" indent="-431797" algn="l">
              <a:lnSpc>
                <a:spcPts val="4399"/>
              </a:lnSpc>
              <a:buFont typeface="Arial"/>
              <a:buChar char="•"/>
            </a:pPr>
            <a:r>
              <a:rPr lang="en-US" sz="3999" b="1" dirty="0">
                <a:solidFill>
                  <a:srgbClr val="FFFFFF"/>
                </a:solidFill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TEAM NAME: </a:t>
            </a:r>
            <a:r>
              <a:rPr lang="en-US" sz="3999" b="1" dirty="0">
                <a:solidFill>
                  <a:srgbClr val="FF0000"/>
                </a:solidFill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T</a:t>
            </a:r>
            <a:r>
              <a:rPr lang="en-US" sz="3999" b="1" dirty="0">
                <a:solidFill>
                  <a:srgbClr val="FFFFFF"/>
                </a:solidFill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ech </a:t>
            </a:r>
            <a:r>
              <a:rPr lang="en-US" sz="3999" b="1" dirty="0">
                <a:solidFill>
                  <a:srgbClr val="FF0000"/>
                </a:solidFill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T</a:t>
            </a:r>
            <a:r>
              <a:rPr lang="en-US" sz="3999" b="1" dirty="0">
                <a:solidFill>
                  <a:srgbClr val="FFFFFF"/>
                </a:solidFill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onic</a:t>
            </a:r>
          </a:p>
        </p:txBody>
      </p:sp>
      <p:sp>
        <p:nvSpPr>
          <p:cNvPr id="7" name="Freeform 7"/>
          <p:cNvSpPr/>
          <p:nvPr/>
        </p:nvSpPr>
        <p:spPr>
          <a:xfrm>
            <a:off x="-1200296" y="1331401"/>
            <a:ext cx="3062016" cy="2917266"/>
          </a:xfrm>
          <a:custGeom>
            <a:avLst/>
            <a:gdLst/>
            <a:ahLst/>
            <a:cxnLst/>
            <a:rect l="l" t="t" r="r" b="b"/>
            <a:pathLst>
              <a:path w="3062016" h="2917266">
                <a:moveTo>
                  <a:pt x="0" y="0"/>
                </a:moveTo>
                <a:lnTo>
                  <a:pt x="3062015" y="0"/>
                </a:lnTo>
                <a:lnTo>
                  <a:pt x="3062015" y="2917266"/>
                </a:lnTo>
                <a:lnTo>
                  <a:pt x="0" y="29172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5041993" y="441608"/>
            <a:ext cx="1317891" cy="1060450"/>
            <a:chOff x="0" y="0"/>
            <a:chExt cx="912277" cy="7340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2277" cy="734070"/>
            </a:xfrm>
            <a:custGeom>
              <a:avLst/>
              <a:gdLst/>
              <a:ahLst/>
              <a:cxnLst/>
              <a:rect l="l" t="t" r="r" b="b"/>
              <a:pathLst>
                <a:path w="912277" h="734070">
                  <a:moveTo>
                    <a:pt x="0" y="0"/>
                  </a:moveTo>
                  <a:lnTo>
                    <a:pt x="912277" y="0"/>
                  </a:lnTo>
                  <a:lnTo>
                    <a:pt x="912277" y="734070"/>
                  </a:lnTo>
                  <a:lnTo>
                    <a:pt x="0" y="734070"/>
                  </a:lnTo>
                  <a:close/>
                </a:path>
              </a:pathLst>
            </a:custGeom>
            <a:blipFill>
              <a:blip r:embed="rId2"/>
              <a:stretch>
                <a:fillRect t="-1179" b="-1179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16359884" y="566257"/>
            <a:ext cx="1798832" cy="811151"/>
          </a:xfrm>
          <a:custGeom>
            <a:avLst/>
            <a:gdLst/>
            <a:ahLst/>
            <a:cxnLst/>
            <a:rect l="l" t="t" r="r" b="b"/>
            <a:pathLst>
              <a:path w="1798832" h="811151">
                <a:moveTo>
                  <a:pt x="0" y="0"/>
                </a:moveTo>
                <a:lnTo>
                  <a:pt x="1798832" y="0"/>
                </a:lnTo>
                <a:lnTo>
                  <a:pt x="1798832" y="811151"/>
                </a:lnTo>
                <a:lnTo>
                  <a:pt x="0" y="8111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13" r="-98552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54256" y="565150"/>
            <a:ext cx="2172912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>
                <a:solidFill>
                  <a:srgbClr val="FFC7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CP1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97397" y="412849"/>
            <a:ext cx="13044596" cy="964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IN" sz="6000" b="1" dirty="0">
                <a:solidFill>
                  <a:srgbClr val="FF0000"/>
                </a:solidFill>
              </a:rPr>
              <a:t>AI-Based Medication Adherence Tracker</a:t>
            </a:r>
            <a:endParaRPr lang="en-US" sz="6000" b="1" dirty="0">
              <a:solidFill>
                <a:srgbClr val="FF0000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-2887856" y="6579681"/>
            <a:ext cx="8418204" cy="7760054"/>
          </a:xfrm>
          <a:custGeom>
            <a:avLst/>
            <a:gdLst/>
            <a:ahLst/>
            <a:cxnLst/>
            <a:rect l="l" t="t" r="r" b="b"/>
            <a:pathLst>
              <a:path w="8418204" h="7760054">
                <a:moveTo>
                  <a:pt x="0" y="0"/>
                </a:moveTo>
                <a:lnTo>
                  <a:pt x="8418204" y="0"/>
                </a:lnTo>
                <a:lnTo>
                  <a:pt x="8418204" y="7760054"/>
                </a:lnTo>
                <a:lnTo>
                  <a:pt x="0" y="77600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0" y="461293"/>
            <a:ext cx="2172912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 dirty="0">
                <a:solidFill>
                  <a:srgbClr val="FFC7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CP1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041993" y="441608"/>
            <a:ext cx="1317891" cy="1060450"/>
            <a:chOff x="0" y="0"/>
            <a:chExt cx="912277" cy="7340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2277" cy="734070"/>
            </a:xfrm>
            <a:custGeom>
              <a:avLst/>
              <a:gdLst/>
              <a:ahLst/>
              <a:cxnLst/>
              <a:rect l="l" t="t" r="r" b="b"/>
              <a:pathLst>
                <a:path w="912277" h="734070">
                  <a:moveTo>
                    <a:pt x="0" y="0"/>
                  </a:moveTo>
                  <a:lnTo>
                    <a:pt x="912277" y="0"/>
                  </a:lnTo>
                  <a:lnTo>
                    <a:pt x="912277" y="734070"/>
                  </a:lnTo>
                  <a:lnTo>
                    <a:pt x="0" y="734070"/>
                  </a:lnTo>
                  <a:close/>
                </a:path>
              </a:pathLst>
            </a:custGeom>
            <a:blipFill>
              <a:blip r:embed="rId4"/>
              <a:stretch>
                <a:fillRect t="-1179" b="-1179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6359884" y="566257"/>
            <a:ext cx="1798832" cy="811151"/>
          </a:xfrm>
          <a:custGeom>
            <a:avLst/>
            <a:gdLst/>
            <a:ahLst/>
            <a:cxnLst/>
            <a:rect l="l" t="t" r="r" b="b"/>
            <a:pathLst>
              <a:path w="1798832" h="811151">
                <a:moveTo>
                  <a:pt x="0" y="0"/>
                </a:moveTo>
                <a:lnTo>
                  <a:pt x="1798832" y="0"/>
                </a:lnTo>
                <a:lnTo>
                  <a:pt x="1798832" y="811151"/>
                </a:lnTo>
                <a:lnTo>
                  <a:pt x="0" y="8111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13" r="-98552"/>
            </a:stretch>
          </a:blipFill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78C136-6442-442B-B7CA-A3BFFE3B43A7}"/>
              </a:ext>
            </a:extLst>
          </p:cNvPr>
          <p:cNvSpPr txBox="1"/>
          <p:nvPr/>
        </p:nvSpPr>
        <p:spPr>
          <a:xfrm>
            <a:off x="1376491" y="1558925"/>
            <a:ext cx="126919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Problem Are We Solving?</a:t>
            </a:r>
          </a:p>
          <a:p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Medication non-adherence is a major global healthcare problem where patients 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forget, skip, or take incorrect medicines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FA18F6-99E8-4789-8126-389072FE42E2}"/>
              </a:ext>
            </a:extLst>
          </p:cNvPr>
          <p:cNvSpPr txBox="1"/>
          <p:nvPr/>
        </p:nvSpPr>
        <p:spPr>
          <a:xfrm>
            <a:off x="2514600" y="3291363"/>
            <a:ext cx="12801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Faces This Problem?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Elderly people living alone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Patients with chronic diseases like 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diabetes and hypertension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People who take 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medicines daily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53554E-04BA-45D9-BF6C-8F6AE17A0162}"/>
              </a:ext>
            </a:extLst>
          </p:cNvPr>
          <p:cNvSpPr txBox="1"/>
          <p:nvPr/>
        </p:nvSpPr>
        <p:spPr>
          <a:xfrm>
            <a:off x="4460081" y="5762464"/>
            <a:ext cx="1131331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Is This Important?</a:t>
            </a:r>
          </a:p>
          <a:p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Sometimes patients simply 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forget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sometimes they 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confuse medicines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Sometimes they </a:t>
            </a:r>
            <a:r>
              <a:rPr lang="en-US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sollow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wrong medicine that causes severe side effects and sometimes fetal causes. </a:t>
            </a:r>
          </a:p>
          <a:p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reminder solutions like 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phone alarms or pill boxes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not reliable enough for elderly users.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2842136" y="6579681"/>
            <a:ext cx="8418204" cy="7760054"/>
          </a:xfrm>
          <a:custGeom>
            <a:avLst/>
            <a:gdLst/>
            <a:ahLst/>
            <a:cxnLst/>
            <a:rect l="l" t="t" r="r" b="b"/>
            <a:pathLst>
              <a:path w="8418204" h="7760054">
                <a:moveTo>
                  <a:pt x="0" y="0"/>
                </a:moveTo>
                <a:lnTo>
                  <a:pt x="8418204" y="0"/>
                </a:lnTo>
                <a:lnTo>
                  <a:pt x="8418204" y="7760054"/>
                </a:lnTo>
                <a:lnTo>
                  <a:pt x="0" y="77600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5041993" y="441608"/>
            <a:ext cx="1317891" cy="1060450"/>
            <a:chOff x="0" y="0"/>
            <a:chExt cx="912277" cy="7340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2277" cy="734070"/>
            </a:xfrm>
            <a:custGeom>
              <a:avLst/>
              <a:gdLst/>
              <a:ahLst/>
              <a:cxnLst/>
              <a:rect l="l" t="t" r="r" b="b"/>
              <a:pathLst>
                <a:path w="912277" h="734070">
                  <a:moveTo>
                    <a:pt x="0" y="0"/>
                  </a:moveTo>
                  <a:lnTo>
                    <a:pt x="912277" y="0"/>
                  </a:lnTo>
                  <a:lnTo>
                    <a:pt x="912277" y="734070"/>
                  </a:lnTo>
                  <a:lnTo>
                    <a:pt x="0" y="734070"/>
                  </a:lnTo>
                  <a:close/>
                </a:path>
              </a:pathLst>
            </a:custGeom>
            <a:blipFill>
              <a:blip r:embed="rId4"/>
              <a:stretch>
                <a:fillRect t="-1179" b="-1179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6359884" y="566257"/>
            <a:ext cx="1798832" cy="811151"/>
          </a:xfrm>
          <a:custGeom>
            <a:avLst/>
            <a:gdLst/>
            <a:ahLst/>
            <a:cxnLst/>
            <a:rect l="l" t="t" r="r" b="b"/>
            <a:pathLst>
              <a:path w="1798832" h="811151">
                <a:moveTo>
                  <a:pt x="0" y="0"/>
                </a:moveTo>
                <a:lnTo>
                  <a:pt x="1798832" y="0"/>
                </a:lnTo>
                <a:lnTo>
                  <a:pt x="1798832" y="811151"/>
                </a:lnTo>
                <a:lnTo>
                  <a:pt x="0" y="8111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13" r="-98552"/>
            </a:stretch>
          </a:blipFill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432DC6-6006-4409-BDAD-C11AD71F38FB}"/>
              </a:ext>
            </a:extLst>
          </p:cNvPr>
          <p:cNvSpPr txBox="1"/>
          <p:nvPr/>
        </p:nvSpPr>
        <p:spPr>
          <a:xfrm>
            <a:off x="990600" y="1560512"/>
            <a:ext cx="72390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Idea</a:t>
            </a:r>
          </a:p>
          <a:p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designed an 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Medication Adherence Tracker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 smart reminder device that ensures users 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never miss their medicine again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Instead of just a boring alarm, our system acts more like a 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assistant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CBC7C7-D68C-4F64-897D-BBB24EE20C7D}"/>
              </a:ext>
            </a:extLst>
          </p:cNvPr>
          <p:cNvSpPr txBox="1"/>
          <p:nvPr/>
        </p:nvSpPr>
        <p:spPr>
          <a:xfrm>
            <a:off x="9220200" y="1715605"/>
            <a:ext cx="74676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Our System Does</a:t>
            </a:r>
          </a:p>
          <a:p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it is time to take medicine, the device: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medicine name and time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Gives a 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 reminder</a:t>
            </a:r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Repeats the alert until the medicine is taken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45FAC4-F4CC-4C1E-BAF6-539E3EE24C16}"/>
              </a:ext>
            </a:extLst>
          </p:cNvPr>
          <p:cNvSpPr txBox="1"/>
          <p:nvPr/>
        </p:nvSpPr>
        <p:spPr>
          <a:xfrm>
            <a:off x="7315200" y="6404687"/>
            <a:ext cx="1253490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Our Solution Is Different</a:t>
            </a:r>
          </a:p>
          <a:p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reminder systems only give </a:t>
            </a: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alarms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system improves this by using: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 reminders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display guidance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scheduling support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connectivity for future monitoring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76A980-0666-4F3D-91BE-7D4E612F6F48}"/>
              </a:ext>
            </a:extLst>
          </p:cNvPr>
          <p:cNvCxnSpPr/>
          <p:nvPr/>
        </p:nvCxnSpPr>
        <p:spPr>
          <a:xfrm flipH="1">
            <a:off x="1840712" y="4914900"/>
            <a:ext cx="6769888" cy="64008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29F0CB9-7D06-4A76-8807-D6F62A0411D3}"/>
              </a:ext>
            </a:extLst>
          </p:cNvPr>
          <p:cNvCxnSpPr/>
          <p:nvPr/>
        </p:nvCxnSpPr>
        <p:spPr>
          <a:xfrm flipV="1">
            <a:off x="8610600" y="1715605"/>
            <a:ext cx="0" cy="319929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E47D8D1-881F-4F76-B22E-205F4D759D97}"/>
              </a:ext>
            </a:extLst>
          </p:cNvPr>
          <p:cNvCxnSpPr>
            <a:cxnSpLocks/>
          </p:cNvCxnSpPr>
          <p:nvPr/>
        </p:nvCxnSpPr>
        <p:spPr>
          <a:xfrm>
            <a:off x="7162800" y="6286500"/>
            <a:ext cx="9525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2">
            <a:extLst>
              <a:ext uri="{FF2B5EF4-FFF2-40B4-BE49-F238E27FC236}">
                <a16:creationId xmlns:a16="http://schemas.microsoft.com/office/drawing/2014/main" id="{7809BFB5-E5F8-4A06-804B-648114FFD7F9}"/>
              </a:ext>
            </a:extLst>
          </p:cNvPr>
          <p:cNvSpPr txBox="1"/>
          <p:nvPr/>
        </p:nvSpPr>
        <p:spPr>
          <a:xfrm>
            <a:off x="2141921" y="378609"/>
            <a:ext cx="13044596" cy="964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IN" sz="6000" b="1" dirty="0">
                <a:solidFill>
                  <a:srgbClr val="FF0000"/>
                </a:solidFill>
              </a:rPr>
              <a:t>AI-Based Medication Adherence Tracker</a:t>
            </a:r>
            <a:endParaRPr lang="en-US" sz="6000" b="1" dirty="0">
              <a:solidFill>
                <a:srgbClr val="FF0000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21" name="TextBox 5">
            <a:extLst>
              <a:ext uri="{FF2B5EF4-FFF2-40B4-BE49-F238E27FC236}">
                <a16:creationId xmlns:a16="http://schemas.microsoft.com/office/drawing/2014/main" id="{E43AC36D-D0F1-4EDF-9298-0E7FC9EC1CF3}"/>
              </a:ext>
            </a:extLst>
          </p:cNvPr>
          <p:cNvSpPr txBox="1"/>
          <p:nvPr/>
        </p:nvSpPr>
        <p:spPr>
          <a:xfrm>
            <a:off x="144524" y="427053"/>
            <a:ext cx="2172912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 dirty="0">
                <a:solidFill>
                  <a:srgbClr val="FFC7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CP1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2514600" y="7658100"/>
            <a:ext cx="8418204" cy="7760054"/>
          </a:xfrm>
          <a:custGeom>
            <a:avLst/>
            <a:gdLst/>
            <a:ahLst/>
            <a:cxnLst/>
            <a:rect l="l" t="t" r="r" b="b"/>
            <a:pathLst>
              <a:path w="8418204" h="7760054">
                <a:moveTo>
                  <a:pt x="0" y="0"/>
                </a:moveTo>
                <a:lnTo>
                  <a:pt x="8418204" y="0"/>
                </a:lnTo>
                <a:lnTo>
                  <a:pt x="8418204" y="7760054"/>
                </a:lnTo>
                <a:lnTo>
                  <a:pt x="0" y="77600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219200" y="1570833"/>
            <a:ext cx="12786439" cy="1125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sz="3600" b="1" u="sng" dirty="0">
                <a:solidFill>
                  <a:srgbClr val="FFFFFF"/>
                </a:solidFill>
                <a:latin typeface="Times New Roman" panose="02020603050405020304" pitchFamily="18" charset="0"/>
                <a:ea typeface="HK Grotesk Bold"/>
                <a:cs typeface="Times New Roman" panose="02020603050405020304" pitchFamily="18" charset="0"/>
                <a:sym typeface="HK Grotesk Bold"/>
              </a:rPr>
              <a:t>System Architecture</a:t>
            </a:r>
          </a:p>
          <a:p>
            <a:pPr algn="l">
              <a:lnSpc>
                <a:spcPts val="4399"/>
              </a:lnSpc>
            </a:pP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system consists of 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main parts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ea typeface="HK Grotesk Bold"/>
              <a:cs typeface="Times New Roman" panose="02020603050405020304" pitchFamily="18" charset="0"/>
              <a:sym typeface="HK Grotesk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5041993" y="441608"/>
            <a:ext cx="1317891" cy="1060450"/>
            <a:chOff x="0" y="0"/>
            <a:chExt cx="912277" cy="7340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2277" cy="734070"/>
            </a:xfrm>
            <a:custGeom>
              <a:avLst/>
              <a:gdLst/>
              <a:ahLst/>
              <a:cxnLst/>
              <a:rect l="l" t="t" r="r" b="b"/>
              <a:pathLst>
                <a:path w="912277" h="734070">
                  <a:moveTo>
                    <a:pt x="0" y="0"/>
                  </a:moveTo>
                  <a:lnTo>
                    <a:pt x="912277" y="0"/>
                  </a:lnTo>
                  <a:lnTo>
                    <a:pt x="912277" y="734070"/>
                  </a:lnTo>
                  <a:lnTo>
                    <a:pt x="0" y="734070"/>
                  </a:lnTo>
                  <a:close/>
                </a:path>
              </a:pathLst>
            </a:custGeom>
            <a:blipFill>
              <a:blip r:embed="rId4"/>
              <a:stretch>
                <a:fillRect t="-1179" b="-1179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6359884" y="566257"/>
            <a:ext cx="1798832" cy="811151"/>
          </a:xfrm>
          <a:custGeom>
            <a:avLst/>
            <a:gdLst/>
            <a:ahLst/>
            <a:cxnLst/>
            <a:rect l="l" t="t" r="r" b="b"/>
            <a:pathLst>
              <a:path w="1798832" h="811151">
                <a:moveTo>
                  <a:pt x="0" y="0"/>
                </a:moveTo>
                <a:lnTo>
                  <a:pt x="1798832" y="0"/>
                </a:lnTo>
                <a:lnTo>
                  <a:pt x="1798832" y="811151"/>
                </a:lnTo>
                <a:lnTo>
                  <a:pt x="0" y="8111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13" r="-98552"/>
            </a:stretch>
          </a:blipFill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D35B83-1443-4B5D-80CF-6EADC8047E6F}"/>
              </a:ext>
            </a:extLst>
          </p:cNvPr>
          <p:cNvSpPr txBox="1"/>
          <p:nvPr/>
        </p:nvSpPr>
        <p:spPr>
          <a:xfrm>
            <a:off x="307262" y="2760653"/>
            <a:ext cx="841820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</a:t>
            </a:r>
            <a:r>
              <a:rPr lang="en-US" sz="32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Layer</a:t>
            </a:r>
          </a:p>
          <a:p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the physical device.</a:t>
            </a:r>
          </a:p>
          <a:p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components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ESP32 Microcontroller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the brain of the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OLED Display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shows medicine name and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 Module + Speaker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gives voice reminders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Time Clock (RTC)</a:t>
            </a: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keeps accurate timing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ECFA80-9CB8-4192-8786-A9C46B1D038A}"/>
              </a:ext>
            </a:extLst>
          </p:cNvPr>
          <p:cNvSpPr txBox="1"/>
          <p:nvPr/>
        </p:nvSpPr>
        <p:spPr>
          <a:xfrm>
            <a:off x="8725466" y="2973467"/>
            <a:ext cx="491433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2:</a:t>
            </a:r>
            <a:r>
              <a:rPr lang="en-US" sz="32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Layer</a:t>
            </a:r>
          </a:p>
          <a:p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layer manages the logic of the system: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Medication scheduling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Reminder triggering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30D9BB-E4B3-4A2B-A3A8-FF59CFFA409A}"/>
              </a:ext>
            </a:extLst>
          </p:cNvPr>
          <p:cNvSpPr txBox="1"/>
          <p:nvPr/>
        </p:nvSpPr>
        <p:spPr>
          <a:xfrm>
            <a:off x="13829735" y="2727245"/>
            <a:ext cx="4151003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3:</a:t>
            </a:r>
            <a:r>
              <a:rPr lang="en-US" sz="32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/ Cloud Layer</a:t>
            </a:r>
          </a:p>
          <a:p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layer allows future expansion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reminder adjustments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Remote monitoring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storage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58EA33-C39B-44D1-ABAB-0451B0B84385}"/>
              </a:ext>
            </a:extLst>
          </p:cNvPr>
          <p:cNvCxnSpPr>
            <a:cxnSpLocks/>
          </p:cNvCxnSpPr>
          <p:nvPr/>
        </p:nvCxnSpPr>
        <p:spPr>
          <a:xfrm flipH="1" flipV="1">
            <a:off x="8692694" y="2778919"/>
            <a:ext cx="32772" cy="48791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74AA238-0369-4B4C-9BD0-DFA13E672D30}"/>
              </a:ext>
            </a:extLst>
          </p:cNvPr>
          <p:cNvCxnSpPr>
            <a:cxnSpLocks/>
          </p:cNvCxnSpPr>
          <p:nvPr/>
        </p:nvCxnSpPr>
        <p:spPr>
          <a:xfrm flipV="1">
            <a:off x="13639800" y="2778920"/>
            <a:ext cx="0" cy="48791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5AE8920-F8B9-48B5-8B35-3B47588EF862}"/>
              </a:ext>
            </a:extLst>
          </p:cNvPr>
          <p:cNvSpPr txBox="1"/>
          <p:nvPr/>
        </p:nvSpPr>
        <p:spPr>
          <a:xfrm>
            <a:off x="5486400" y="7880271"/>
            <a:ext cx="120530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these components communicate together to ensure 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 and reliable reminders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!!</a:t>
            </a:r>
            <a:endParaRPr lang="en-IN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">
            <a:extLst>
              <a:ext uri="{FF2B5EF4-FFF2-40B4-BE49-F238E27FC236}">
                <a16:creationId xmlns:a16="http://schemas.microsoft.com/office/drawing/2014/main" id="{74ED470D-2186-43E8-BD24-DBB0D4A4EF2E}"/>
              </a:ext>
            </a:extLst>
          </p:cNvPr>
          <p:cNvSpPr txBox="1"/>
          <p:nvPr/>
        </p:nvSpPr>
        <p:spPr>
          <a:xfrm>
            <a:off x="2141921" y="378609"/>
            <a:ext cx="13044596" cy="964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IN" sz="6000" b="1" dirty="0">
                <a:solidFill>
                  <a:srgbClr val="FF0000"/>
                </a:solidFill>
              </a:rPr>
              <a:t>AI-Based Medication Adherence Tracker</a:t>
            </a:r>
            <a:endParaRPr lang="en-US" sz="6000" b="1" dirty="0">
              <a:solidFill>
                <a:srgbClr val="FF0000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97650E7B-4716-469F-8CB0-DA2FFCEB5614}"/>
              </a:ext>
            </a:extLst>
          </p:cNvPr>
          <p:cNvSpPr txBox="1"/>
          <p:nvPr/>
        </p:nvSpPr>
        <p:spPr>
          <a:xfrm>
            <a:off x="144524" y="427053"/>
            <a:ext cx="2172912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 dirty="0">
                <a:solidFill>
                  <a:srgbClr val="FFC7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CP1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2727836" y="6579681"/>
            <a:ext cx="8418204" cy="7760054"/>
          </a:xfrm>
          <a:custGeom>
            <a:avLst/>
            <a:gdLst/>
            <a:ahLst/>
            <a:cxnLst/>
            <a:rect l="l" t="t" r="r" b="b"/>
            <a:pathLst>
              <a:path w="8418204" h="7760054">
                <a:moveTo>
                  <a:pt x="0" y="0"/>
                </a:moveTo>
                <a:lnTo>
                  <a:pt x="8418204" y="0"/>
                </a:lnTo>
                <a:lnTo>
                  <a:pt x="8418204" y="7760054"/>
                </a:lnTo>
                <a:lnTo>
                  <a:pt x="0" y="77600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5041993" y="441608"/>
            <a:ext cx="1317891" cy="1060450"/>
            <a:chOff x="0" y="0"/>
            <a:chExt cx="912277" cy="7340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12277" cy="734070"/>
            </a:xfrm>
            <a:custGeom>
              <a:avLst/>
              <a:gdLst/>
              <a:ahLst/>
              <a:cxnLst/>
              <a:rect l="l" t="t" r="r" b="b"/>
              <a:pathLst>
                <a:path w="912277" h="734070">
                  <a:moveTo>
                    <a:pt x="0" y="0"/>
                  </a:moveTo>
                  <a:lnTo>
                    <a:pt x="912277" y="0"/>
                  </a:lnTo>
                  <a:lnTo>
                    <a:pt x="912277" y="734070"/>
                  </a:lnTo>
                  <a:lnTo>
                    <a:pt x="0" y="734070"/>
                  </a:lnTo>
                  <a:close/>
                </a:path>
              </a:pathLst>
            </a:custGeom>
            <a:blipFill>
              <a:blip r:embed="rId4"/>
              <a:stretch>
                <a:fillRect t="-1179" b="-1179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6359884" y="566257"/>
            <a:ext cx="1798832" cy="811151"/>
          </a:xfrm>
          <a:custGeom>
            <a:avLst/>
            <a:gdLst/>
            <a:ahLst/>
            <a:cxnLst/>
            <a:rect l="l" t="t" r="r" b="b"/>
            <a:pathLst>
              <a:path w="1798832" h="811151">
                <a:moveTo>
                  <a:pt x="0" y="0"/>
                </a:moveTo>
                <a:lnTo>
                  <a:pt x="1798832" y="0"/>
                </a:lnTo>
                <a:lnTo>
                  <a:pt x="1798832" y="811151"/>
                </a:lnTo>
                <a:lnTo>
                  <a:pt x="0" y="8111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13" r="-98552"/>
            </a:stretch>
          </a:blipFill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F2A999-22B6-47C9-B3E9-18D68D2BA493}"/>
              </a:ext>
            </a:extLst>
          </p:cNvPr>
          <p:cNvSpPr txBox="1"/>
          <p:nvPr/>
        </p:nvSpPr>
        <p:spPr>
          <a:xfrm>
            <a:off x="11393611" y="2376687"/>
            <a:ext cx="5822156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User Input</a:t>
            </a:r>
          </a:p>
          <a:p>
            <a:pPr algn="ctr"/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/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Medicine Schedule Stored</a:t>
            </a:r>
          </a:p>
          <a:p>
            <a:pPr algn="ctr"/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/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RTC Time Monitoring</a:t>
            </a:r>
          </a:p>
          <a:p>
            <a:pPr algn="ctr"/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/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Time Match Detected</a:t>
            </a:r>
          </a:p>
          <a:p>
            <a:pPr algn="ctr"/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/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Reminder Trigger</a:t>
            </a:r>
          </a:p>
          <a:p>
            <a:pPr algn="ctr"/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(Display + Voice Alert)</a:t>
            </a:r>
          </a:p>
          <a:p>
            <a:pPr algn="ctr"/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/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User Takes Medicine</a:t>
            </a:r>
          </a:p>
          <a:p>
            <a:pPr algn="ctr"/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/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Confirmation / Reminder Stops</a:t>
            </a:r>
          </a:p>
          <a:p>
            <a:pPr algn="ctr"/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pPr algn="ctr"/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System Logs Activity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B89B31-6D9E-40C9-8C89-161EC2E7E0CD}"/>
              </a:ext>
            </a:extLst>
          </p:cNvPr>
          <p:cNvSpPr txBox="1"/>
          <p:nvPr/>
        </p:nvSpPr>
        <p:spPr>
          <a:xfrm>
            <a:off x="13101160" y="1634327"/>
            <a:ext cx="381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</a:rPr>
              <a:t>WORK FLOW </a:t>
            </a:r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572241F8-1D53-41D3-832D-1B9087D5BCD0}"/>
              </a:ext>
            </a:extLst>
          </p:cNvPr>
          <p:cNvSpPr/>
          <p:nvPr/>
        </p:nvSpPr>
        <p:spPr>
          <a:xfrm>
            <a:off x="12908455" y="1658140"/>
            <a:ext cx="3322365" cy="593442"/>
          </a:xfrm>
          <a:prstGeom prst="flowChartTerminato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756612-40C1-402B-972A-CCDC3AB7B4ED}"/>
              </a:ext>
            </a:extLst>
          </p:cNvPr>
          <p:cNvSpPr txBox="1"/>
          <p:nvPr/>
        </p:nvSpPr>
        <p:spPr>
          <a:xfrm>
            <a:off x="995751" y="2718918"/>
            <a:ext cx="365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AI in the workflow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469AF1-978B-4D11-BA2A-AE8CAFCC0838}"/>
              </a:ext>
            </a:extLst>
          </p:cNvPr>
          <p:cNvSpPr txBox="1"/>
          <p:nvPr/>
        </p:nvSpPr>
        <p:spPr>
          <a:xfrm>
            <a:off x="-152400" y="3655833"/>
            <a:ext cx="547925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Reminder Trigger</a:t>
            </a:r>
          </a:p>
          <a:p>
            <a:pPr algn="ctr"/>
            <a:r>
              <a:rPr lang="en-IN" sz="2800" dirty="0">
                <a:solidFill>
                  <a:schemeClr val="bg1"/>
                </a:solidFill>
              </a:rPr>
              <a:t>  ↓</a:t>
            </a:r>
          </a:p>
          <a:p>
            <a:pPr algn="ctr"/>
            <a:r>
              <a:rPr lang="en-IN" sz="2800" dirty="0">
                <a:solidFill>
                  <a:schemeClr val="bg1"/>
                </a:solidFill>
              </a:rPr>
              <a:t>AI </a:t>
            </a:r>
            <a:r>
              <a:rPr lang="en-IN" sz="2800" dirty="0" err="1">
                <a:solidFill>
                  <a:schemeClr val="bg1"/>
                </a:solidFill>
              </a:rPr>
              <a:t>analyzes</a:t>
            </a:r>
            <a:r>
              <a:rPr lang="en-IN" sz="2800" dirty="0">
                <a:solidFill>
                  <a:schemeClr val="bg1"/>
                </a:solidFill>
              </a:rPr>
              <a:t> adherence pattern</a:t>
            </a:r>
          </a:p>
          <a:p>
            <a:pPr algn="ctr"/>
            <a:r>
              <a:rPr lang="en-IN" sz="2800" dirty="0">
                <a:solidFill>
                  <a:schemeClr val="bg1"/>
                </a:solidFill>
              </a:rPr>
              <a:t>  ↓</a:t>
            </a:r>
          </a:p>
          <a:p>
            <a:pPr algn="ctr"/>
            <a:r>
              <a:rPr lang="en-IN" sz="2800" dirty="0">
                <a:solidFill>
                  <a:schemeClr val="bg1"/>
                </a:solidFill>
              </a:rPr>
              <a:t>Adjusts reminder </a:t>
            </a: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</a:t>
            </a:r>
          </a:p>
        </p:txBody>
      </p:sp>
      <p:sp>
        <p:nvSpPr>
          <p:cNvPr id="16" name="Flowchart: Terminator 15">
            <a:extLst>
              <a:ext uri="{FF2B5EF4-FFF2-40B4-BE49-F238E27FC236}">
                <a16:creationId xmlns:a16="http://schemas.microsoft.com/office/drawing/2014/main" id="{532E5FD6-3BF2-4DD5-B952-C097992AD95D}"/>
              </a:ext>
            </a:extLst>
          </p:cNvPr>
          <p:cNvSpPr/>
          <p:nvPr/>
        </p:nvSpPr>
        <p:spPr>
          <a:xfrm>
            <a:off x="995751" y="2718918"/>
            <a:ext cx="3200400" cy="709086"/>
          </a:xfrm>
          <a:prstGeom prst="flowChartTerminato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4BF8993-85B1-48F5-82E6-7CA0B863E1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8988" y="3296073"/>
            <a:ext cx="7658166" cy="4177182"/>
          </a:xfrm>
          <a:prstGeom prst="rect">
            <a:avLst/>
          </a:prstGeom>
        </p:spPr>
      </p:pic>
      <p:sp>
        <p:nvSpPr>
          <p:cNvPr id="20" name="TextBox 2">
            <a:extLst>
              <a:ext uri="{FF2B5EF4-FFF2-40B4-BE49-F238E27FC236}">
                <a16:creationId xmlns:a16="http://schemas.microsoft.com/office/drawing/2014/main" id="{FE17B45A-ECBB-47F5-8249-4B6C9DCFFAB1}"/>
              </a:ext>
            </a:extLst>
          </p:cNvPr>
          <p:cNvSpPr txBox="1"/>
          <p:nvPr/>
        </p:nvSpPr>
        <p:spPr>
          <a:xfrm>
            <a:off x="2141921" y="378609"/>
            <a:ext cx="13044596" cy="964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IN" sz="6000" b="1" dirty="0">
                <a:solidFill>
                  <a:srgbClr val="FF0000"/>
                </a:solidFill>
              </a:rPr>
              <a:t>AI-Based Medication Adherence Tracker</a:t>
            </a:r>
            <a:endParaRPr lang="en-US" sz="6000" b="1" dirty="0">
              <a:solidFill>
                <a:srgbClr val="FF0000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21" name="TextBox 5">
            <a:extLst>
              <a:ext uri="{FF2B5EF4-FFF2-40B4-BE49-F238E27FC236}">
                <a16:creationId xmlns:a16="http://schemas.microsoft.com/office/drawing/2014/main" id="{F9103E3D-5E60-4C50-9A0B-9D692657AF51}"/>
              </a:ext>
            </a:extLst>
          </p:cNvPr>
          <p:cNvSpPr txBox="1"/>
          <p:nvPr/>
        </p:nvSpPr>
        <p:spPr>
          <a:xfrm>
            <a:off x="144524" y="427053"/>
            <a:ext cx="2172912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 dirty="0">
                <a:solidFill>
                  <a:srgbClr val="FFC7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CP1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41993" y="441608"/>
            <a:ext cx="1317891" cy="1060450"/>
            <a:chOff x="0" y="0"/>
            <a:chExt cx="912277" cy="7340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12277" cy="734070"/>
            </a:xfrm>
            <a:custGeom>
              <a:avLst/>
              <a:gdLst/>
              <a:ahLst/>
              <a:cxnLst/>
              <a:rect l="l" t="t" r="r" b="b"/>
              <a:pathLst>
                <a:path w="912277" h="734070">
                  <a:moveTo>
                    <a:pt x="0" y="0"/>
                  </a:moveTo>
                  <a:lnTo>
                    <a:pt x="912277" y="0"/>
                  </a:lnTo>
                  <a:lnTo>
                    <a:pt x="912277" y="734070"/>
                  </a:lnTo>
                  <a:lnTo>
                    <a:pt x="0" y="734070"/>
                  </a:lnTo>
                  <a:close/>
                </a:path>
              </a:pathLst>
            </a:custGeom>
            <a:blipFill>
              <a:blip r:embed="rId2"/>
              <a:stretch>
                <a:fillRect t="-1179" b="-117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2727836" y="6579681"/>
            <a:ext cx="8418204" cy="7760054"/>
          </a:xfrm>
          <a:custGeom>
            <a:avLst/>
            <a:gdLst/>
            <a:ahLst/>
            <a:cxnLst/>
            <a:rect l="l" t="t" r="r" b="b"/>
            <a:pathLst>
              <a:path w="8418204" h="7760054">
                <a:moveTo>
                  <a:pt x="0" y="0"/>
                </a:moveTo>
                <a:lnTo>
                  <a:pt x="8418204" y="0"/>
                </a:lnTo>
                <a:lnTo>
                  <a:pt x="8418204" y="7760054"/>
                </a:lnTo>
                <a:lnTo>
                  <a:pt x="0" y="77600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359884" y="566257"/>
            <a:ext cx="1798832" cy="811151"/>
          </a:xfrm>
          <a:custGeom>
            <a:avLst/>
            <a:gdLst/>
            <a:ahLst/>
            <a:cxnLst/>
            <a:rect l="l" t="t" r="r" b="b"/>
            <a:pathLst>
              <a:path w="1798832" h="811151">
                <a:moveTo>
                  <a:pt x="0" y="0"/>
                </a:moveTo>
                <a:lnTo>
                  <a:pt x="1798832" y="0"/>
                </a:lnTo>
                <a:lnTo>
                  <a:pt x="1798832" y="811151"/>
                </a:lnTo>
                <a:lnTo>
                  <a:pt x="0" y="8111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13" r="-98552"/>
            </a:stretch>
          </a:blipFill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3B39F6-097D-4384-9055-B6FE2DFA9893}"/>
              </a:ext>
            </a:extLst>
          </p:cNvPr>
          <p:cNvSpPr txBox="1"/>
          <p:nvPr/>
        </p:nvSpPr>
        <p:spPr>
          <a:xfrm>
            <a:off x="720918" y="1887393"/>
            <a:ext cx="118872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Users</a:t>
            </a:r>
          </a:p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Patients : </a:t>
            </a: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interact with the system by receiving reminders and taking medicines accordingly.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230D12-D506-4CA8-AA37-85E1469DAA38}"/>
              </a:ext>
            </a:extLst>
          </p:cNvPr>
          <p:cNvSpPr txBox="1"/>
          <p:nvPr/>
        </p:nvSpPr>
        <p:spPr>
          <a:xfrm>
            <a:off x="7162800" y="3704391"/>
            <a:ext cx="6324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Secondary Users:</a:t>
            </a:r>
          </a:p>
          <a:p>
            <a:pPr algn="ctr"/>
            <a:r>
              <a:rPr lang="en-US" sz="3600" b="1" dirty="0">
                <a:solidFill>
                  <a:schemeClr val="bg1"/>
                </a:solidFill>
                <a:highlight>
                  <a:srgbClr val="000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Caregivers or family members</a:t>
            </a:r>
            <a:endParaRPr lang="en-US" sz="3600" dirty="0">
              <a:solidFill>
                <a:schemeClr val="bg1"/>
              </a:solidFill>
              <a:highlight>
                <a:srgbClr val="0000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3FF871-FDF9-480C-B520-325B56D7A34D}"/>
              </a:ext>
            </a:extLst>
          </p:cNvPr>
          <p:cNvSpPr txBox="1"/>
          <p:nvPr/>
        </p:nvSpPr>
        <p:spPr>
          <a:xfrm>
            <a:off x="12117379" y="5905499"/>
            <a:ext cx="4242505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Devices Involved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prototype includes: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ESP32 controller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 reminder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Speaker or buzzer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7C425C-B14B-48C9-8EF6-2F8796988053}"/>
              </a:ext>
            </a:extLst>
          </p:cNvPr>
          <p:cNvSpPr txBox="1"/>
          <p:nvPr/>
        </p:nvSpPr>
        <p:spPr>
          <a:xfrm>
            <a:off x="4648200" y="5905500"/>
            <a:ext cx="5815832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 Services</a:t>
            </a:r>
          </a:p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future versions, the system can integrate with: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services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 monitoring systems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9372F3-4946-434D-9081-6D64D8065725}"/>
              </a:ext>
            </a:extLst>
          </p:cNvPr>
          <p:cNvSpPr/>
          <p:nvPr/>
        </p:nvSpPr>
        <p:spPr>
          <a:xfrm>
            <a:off x="7162800" y="3732966"/>
            <a:ext cx="6324600" cy="113430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C4D62551-19FC-4EE7-ACF9-847AA3D1D347}"/>
              </a:ext>
            </a:extLst>
          </p:cNvPr>
          <p:cNvSpPr txBox="1"/>
          <p:nvPr/>
        </p:nvSpPr>
        <p:spPr>
          <a:xfrm>
            <a:off x="2141921" y="378609"/>
            <a:ext cx="13044596" cy="964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IN" sz="6000" b="1" dirty="0">
                <a:solidFill>
                  <a:srgbClr val="FF0000"/>
                </a:solidFill>
              </a:rPr>
              <a:t>AI-Based Medication Adherence Tracker</a:t>
            </a:r>
            <a:endParaRPr lang="en-US" sz="6000" b="1" dirty="0">
              <a:solidFill>
                <a:srgbClr val="FF0000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A258A2FD-E569-4218-92E4-236624FB4567}"/>
              </a:ext>
            </a:extLst>
          </p:cNvPr>
          <p:cNvSpPr txBox="1"/>
          <p:nvPr/>
        </p:nvSpPr>
        <p:spPr>
          <a:xfrm>
            <a:off x="144524" y="427053"/>
            <a:ext cx="2172912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 dirty="0">
                <a:solidFill>
                  <a:srgbClr val="FFC7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CP1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41993" y="441608"/>
            <a:ext cx="1317891" cy="1060450"/>
            <a:chOff x="0" y="0"/>
            <a:chExt cx="912277" cy="7340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12277" cy="734070"/>
            </a:xfrm>
            <a:custGeom>
              <a:avLst/>
              <a:gdLst/>
              <a:ahLst/>
              <a:cxnLst/>
              <a:rect l="l" t="t" r="r" b="b"/>
              <a:pathLst>
                <a:path w="912277" h="734070">
                  <a:moveTo>
                    <a:pt x="0" y="0"/>
                  </a:moveTo>
                  <a:lnTo>
                    <a:pt x="912277" y="0"/>
                  </a:lnTo>
                  <a:lnTo>
                    <a:pt x="912277" y="734070"/>
                  </a:lnTo>
                  <a:lnTo>
                    <a:pt x="0" y="734070"/>
                  </a:lnTo>
                  <a:close/>
                </a:path>
              </a:pathLst>
            </a:custGeom>
            <a:blipFill>
              <a:blip r:embed="rId2"/>
              <a:stretch>
                <a:fillRect t="-1179" b="-117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2735531" y="7178332"/>
            <a:ext cx="8418204" cy="7760054"/>
          </a:xfrm>
          <a:custGeom>
            <a:avLst/>
            <a:gdLst/>
            <a:ahLst/>
            <a:cxnLst/>
            <a:rect l="l" t="t" r="r" b="b"/>
            <a:pathLst>
              <a:path w="8418204" h="7760054">
                <a:moveTo>
                  <a:pt x="0" y="0"/>
                </a:moveTo>
                <a:lnTo>
                  <a:pt x="8418204" y="0"/>
                </a:lnTo>
                <a:lnTo>
                  <a:pt x="8418204" y="7760054"/>
                </a:lnTo>
                <a:lnTo>
                  <a:pt x="0" y="77600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359884" y="566257"/>
            <a:ext cx="1798832" cy="811151"/>
          </a:xfrm>
          <a:custGeom>
            <a:avLst/>
            <a:gdLst/>
            <a:ahLst/>
            <a:cxnLst/>
            <a:rect l="l" t="t" r="r" b="b"/>
            <a:pathLst>
              <a:path w="1798832" h="811151">
                <a:moveTo>
                  <a:pt x="0" y="0"/>
                </a:moveTo>
                <a:lnTo>
                  <a:pt x="1798832" y="0"/>
                </a:lnTo>
                <a:lnTo>
                  <a:pt x="1798832" y="811151"/>
                </a:lnTo>
                <a:lnTo>
                  <a:pt x="0" y="8111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13" r="-98552"/>
            </a:stretch>
          </a:blipFill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C58A31-B4D2-44BB-BC30-45E27483EDA5}"/>
              </a:ext>
            </a:extLst>
          </p:cNvPr>
          <p:cNvSpPr txBox="1"/>
          <p:nvPr/>
        </p:nvSpPr>
        <p:spPr>
          <a:xfrm>
            <a:off x="780027" y="1790700"/>
            <a:ext cx="8923144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Data Moves in the System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user enters medicine information.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stores the data and monitors time using the 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RTC module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the scheduled time arrives: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ESP32 triggers the reminder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shows the medicine 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 module plays the reminder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reminder continues until the user responds.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0030456D-8BB7-4F97-931E-76F9DFE36C3F}"/>
              </a:ext>
            </a:extLst>
          </p:cNvPr>
          <p:cNvSpPr/>
          <p:nvPr/>
        </p:nvSpPr>
        <p:spPr>
          <a:xfrm>
            <a:off x="3066027" y="2708275"/>
            <a:ext cx="457200" cy="533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3CD424C4-2F45-4EB7-B8E8-3FB62B2CD8C9}"/>
              </a:ext>
            </a:extLst>
          </p:cNvPr>
          <p:cNvSpPr/>
          <p:nvPr/>
        </p:nvSpPr>
        <p:spPr>
          <a:xfrm>
            <a:off x="3051885" y="3836344"/>
            <a:ext cx="457200" cy="533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70FA7DCD-E044-4971-AAB2-3005DC223076}"/>
              </a:ext>
            </a:extLst>
          </p:cNvPr>
          <p:cNvSpPr/>
          <p:nvPr/>
        </p:nvSpPr>
        <p:spPr>
          <a:xfrm>
            <a:off x="3066027" y="6031213"/>
            <a:ext cx="457200" cy="533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10EE8CD-B888-441C-B09B-07D04F73DE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988444"/>
              </p:ext>
            </p:extLst>
          </p:nvPr>
        </p:nvGraphicFramePr>
        <p:xfrm>
          <a:off x="8711178" y="6166392"/>
          <a:ext cx="8229600" cy="310896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40806417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977444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bg1"/>
                          </a:solidFill>
                        </a:rPr>
                        <a:t>Component</a:t>
                      </a:r>
                    </a:p>
                    <a:p>
                      <a:endParaRPr lang="en-IN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bg1"/>
                          </a:solidFill>
                        </a:rPr>
                        <a:t>Purpose</a:t>
                      </a:r>
                    </a:p>
                    <a:p>
                      <a:endParaRPr lang="en-IN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8136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ESP32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bg1"/>
                          </a:solidFill>
                        </a:rPr>
                        <a:t>Controls the entire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6167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bg1"/>
                          </a:solidFill>
                        </a:rPr>
                        <a:t>RTC Module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Maintains accurate timing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3513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OLED Display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bg1"/>
                          </a:solidFill>
                        </a:rPr>
                        <a:t>Shows medicine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4619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bg1"/>
                          </a:solidFill>
                        </a:rPr>
                        <a:t>Voice Module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Plays reminder audio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3994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>
                          <a:solidFill>
                            <a:schemeClr val="bg1"/>
                          </a:solidFill>
                        </a:rPr>
                        <a:t>Speaker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bg1"/>
                          </a:solidFill>
                        </a:rPr>
                        <a:t>Outputs sound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2935811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BF728F17-E794-4EC0-BCB8-AD0AB289A921}"/>
              </a:ext>
            </a:extLst>
          </p:cNvPr>
          <p:cNvSpPr txBox="1"/>
          <p:nvPr/>
        </p:nvSpPr>
        <p:spPr>
          <a:xfrm>
            <a:off x="8711178" y="5472779"/>
            <a:ext cx="5762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 Interaction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29091FB-8146-455A-B740-5AB82E833235}"/>
              </a:ext>
            </a:extLst>
          </p:cNvPr>
          <p:cNvSpPr/>
          <p:nvPr/>
        </p:nvSpPr>
        <p:spPr>
          <a:xfrm>
            <a:off x="8725466" y="6166392"/>
            <a:ext cx="7886134" cy="32443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89D74EB-7304-45B4-BA02-EF331E06121C}"/>
              </a:ext>
            </a:extLst>
          </p:cNvPr>
          <p:cNvCxnSpPr/>
          <p:nvPr/>
        </p:nvCxnSpPr>
        <p:spPr>
          <a:xfrm flipV="1">
            <a:off x="12039600" y="6166392"/>
            <a:ext cx="0" cy="32443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E6D133F-41F5-4D02-8C7D-9A13ECC73C09}"/>
              </a:ext>
            </a:extLst>
          </p:cNvPr>
          <p:cNvCxnSpPr/>
          <p:nvPr/>
        </p:nvCxnSpPr>
        <p:spPr>
          <a:xfrm>
            <a:off x="8725466" y="6667500"/>
            <a:ext cx="78861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2">
            <a:extLst>
              <a:ext uri="{FF2B5EF4-FFF2-40B4-BE49-F238E27FC236}">
                <a16:creationId xmlns:a16="http://schemas.microsoft.com/office/drawing/2014/main" id="{6FFFAD98-3E94-4DFD-86A1-60A4DBE48640}"/>
              </a:ext>
            </a:extLst>
          </p:cNvPr>
          <p:cNvSpPr txBox="1"/>
          <p:nvPr/>
        </p:nvSpPr>
        <p:spPr>
          <a:xfrm>
            <a:off x="2141921" y="378609"/>
            <a:ext cx="13044596" cy="964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IN" sz="6000" b="1" dirty="0">
                <a:solidFill>
                  <a:srgbClr val="FF0000"/>
                </a:solidFill>
              </a:rPr>
              <a:t>AI-Based Medication Adherence Tracker</a:t>
            </a:r>
            <a:endParaRPr lang="en-US" sz="6000" b="1" dirty="0">
              <a:solidFill>
                <a:srgbClr val="FF0000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33" name="TextBox 5">
            <a:extLst>
              <a:ext uri="{FF2B5EF4-FFF2-40B4-BE49-F238E27FC236}">
                <a16:creationId xmlns:a16="http://schemas.microsoft.com/office/drawing/2014/main" id="{9FC26227-CA3E-477D-86DC-5FDE031F2DA9}"/>
              </a:ext>
            </a:extLst>
          </p:cNvPr>
          <p:cNvSpPr txBox="1"/>
          <p:nvPr/>
        </p:nvSpPr>
        <p:spPr>
          <a:xfrm>
            <a:off x="144524" y="427053"/>
            <a:ext cx="2172912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 dirty="0">
                <a:solidFill>
                  <a:srgbClr val="FFC7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CP1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587</Words>
  <Application>Microsoft Office PowerPoint</Application>
  <PresentationFormat>Custom</PresentationFormat>
  <Paragraphs>134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HK Grotesk Bold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CheckPoint1</dc:title>
  <dc:creator>Kiruthik</dc:creator>
  <cp:lastModifiedBy>KIRUTHIK S.K</cp:lastModifiedBy>
  <cp:revision>13</cp:revision>
  <dcterms:created xsi:type="dcterms:W3CDTF">2006-08-16T00:00:00Z</dcterms:created>
  <dcterms:modified xsi:type="dcterms:W3CDTF">2026-03-05T07:52:39Z</dcterms:modified>
  <dc:identifier>DAHC6R-KKlM</dc:identifier>
</cp:coreProperties>
</file>