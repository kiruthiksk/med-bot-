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8288000" cy="10287000"/>
  <p:notesSz cx="6858000" cy="9144000"/>
  <p:embeddedFontLst>
    <p:embeddedFont>
      <p:font typeface="HK Grotesk Bold" panose="020B060402020202020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E153F2-28F4-42B1-BA71-BA4DD60FC618}" v="4" dt="2026-03-05T18:56:20.7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2" d="100"/>
          <a:sy n="32" d="100"/>
        </p:scale>
        <p:origin x="259" y="7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wleesh 2005" userId="5ef3632554806af8" providerId="LiveId" clId="{212EA225-ACD5-46B9-BC8C-8A22474D3A98}"/>
    <pc:docChg chg="undo custSel modSld">
      <pc:chgData name="mowleesh 2005" userId="5ef3632554806af8" providerId="LiveId" clId="{212EA225-ACD5-46B9-BC8C-8A22474D3A98}" dt="2026-03-05T18:56:20.728" v="6"/>
      <pc:docMkLst>
        <pc:docMk/>
      </pc:docMkLst>
      <pc:sldChg chg="modSp mod">
        <pc:chgData name="mowleesh 2005" userId="5ef3632554806af8" providerId="LiveId" clId="{212EA225-ACD5-46B9-BC8C-8A22474D3A98}" dt="2026-03-05T18:56:20.728" v="6"/>
        <pc:sldMkLst>
          <pc:docMk/>
          <pc:sldMk cId="0" sldId="256"/>
        </pc:sldMkLst>
        <pc:spChg chg="mod">
          <ac:chgData name="mowleesh 2005" userId="5ef3632554806af8" providerId="LiveId" clId="{212EA225-ACD5-46B9-BC8C-8A22474D3A98}" dt="2026-03-05T18:56:20.728" v="6"/>
          <ac:spMkLst>
            <pc:docMk/>
            <pc:sldMk cId="0" sldId="256"/>
            <ac:spMk id="6" creationId="{00000000-0000-0000-0000-000000000000}"/>
          </ac:spMkLst>
        </pc:spChg>
      </pc:sldChg>
      <pc:sldChg chg="modSp mod">
        <pc:chgData name="mowleesh 2005" userId="5ef3632554806af8" providerId="LiveId" clId="{212EA225-ACD5-46B9-BC8C-8A22474D3A98}" dt="2026-03-05T18:45:31.547" v="1" actId="207"/>
        <pc:sldMkLst>
          <pc:docMk/>
          <pc:sldMk cId="0" sldId="257"/>
        </pc:sldMkLst>
        <pc:spChg chg="mod">
          <ac:chgData name="mowleesh 2005" userId="5ef3632554806af8" providerId="LiveId" clId="{212EA225-ACD5-46B9-BC8C-8A22474D3A98}" dt="2026-03-05T18:45:31.547" v="1" actId="207"/>
          <ac:spMkLst>
            <pc:docMk/>
            <pc:sldMk cId="0" sldId="257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903935" y="565150"/>
            <a:ext cx="11158445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</a:t>
            </a:r>
            <a:r>
              <a:rPr lang="en-US" sz="6999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REATIVE </a:t>
            </a:r>
            <a:r>
              <a:rPr lang="en-US" sz="6999" b="1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G</a:t>
            </a:r>
            <a:r>
              <a:rPr lang="en-US" sz="6999" b="1">
                <a:solidFill>
                  <a:srgbClr val="F4F6FC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ENESIS 2026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11891688" y="3122391"/>
            <a:ext cx="5661778" cy="5044403"/>
            <a:chOff x="0" y="0"/>
            <a:chExt cx="912277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2277" cy="812800"/>
            </a:xfrm>
            <a:custGeom>
              <a:avLst/>
              <a:gdLst/>
              <a:ahLst/>
              <a:cxnLst/>
              <a:rect l="l" t="t" r="r" b="b"/>
              <a:pathLst>
                <a:path w="912277" h="812800">
                  <a:moveTo>
                    <a:pt x="0" y="0"/>
                  </a:moveTo>
                  <a:lnTo>
                    <a:pt x="912277" y="0"/>
                  </a:lnTo>
                  <a:lnTo>
                    <a:pt x="912277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4086" r="-4086"/>
              </a:stretch>
            </a:blipFill>
          </p:spPr>
        </p:sp>
      </p:grpSp>
      <p:sp>
        <p:nvSpPr>
          <p:cNvPr id="5" name="TextBox 5"/>
          <p:cNvSpPr txBox="1"/>
          <p:nvPr/>
        </p:nvSpPr>
        <p:spPr>
          <a:xfrm>
            <a:off x="6261748" y="2630266"/>
            <a:ext cx="2724626" cy="565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TITLE PAGE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62778" y="4262216"/>
            <a:ext cx="7571899" cy="57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5" lvl="1" indent="-431797" algn="l">
              <a:lnSpc>
                <a:spcPts val="4399"/>
              </a:lnSpc>
              <a:buFont typeface="Arial"/>
              <a:buChar char="•"/>
            </a:pPr>
            <a:endParaRPr lang="en-US" sz="3999" b="1" dirty="0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-1200296" y="1331401"/>
            <a:ext cx="3062016" cy="2917266"/>
          </a:xfrm>
          <a:custGeom>
            <a:avLst/>
            <a:gdLst/>
            <a:ahLst/>
            <a:cxnLst/>
            <a:rect l="l" t="t" r="r" b="b"/>
            <a:pathLst>
              <a:path w="3062016" h="2917266">
                <a:moveTo>
                  <a:pt x="0" y="0"/>
                </a:moveTo>
                <a:lnTo>
                  <a:pt x="3062015" y="0"/>
                </a:lnTo>
                <a:lnTo>
                  <a:pt x="3062015" y="2917266"/>
                </a:lnTo>
                <a:lnTo>
                  <a:pt x="0" y="291726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2"/>
              <a:stretch>
                <a:fillRect t="-1179" b="-1179"/>
              </a:stretch>
            </a:blipFill>
          </p:spPr>
        </p:sp>
      </p:grpSp>
      <p:sp>
        <p:nvSpPr>
          <p:cNvPr id="10" name="Freeform 10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4"/>
              <a:stretch>
                <a:fillRect t="-1179" b="-1179"/>
              </a:stretch>
            </a:blipFill>
          </p:spPr>
        </p:sp>
      </p:grpSp>
      <p:sp>
        <p:nvSpPr>
          <p:cNvPr id="5" name="Freeform 5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146244" y="508283"/>
            <a:ext cx="11158445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 dirty="0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33272" y="4051300"/>
            <a:ext cx="11869208" cy="222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 Overview</a:t>
            </a:r>
          </a:p>
          <a:p>
            <a:pPr marL="863595" lvl="1" indent="-431797" algn="l">
              <a:lnSpc>
                <a:spcPts val="4399"/>
              </a:lnSpc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Brief description of the problem being addressed</a:t>
            </a:r>
          </a:p>
          <a:p>
            <a:pPr marL="863595" lvl="1" indent="-431797" algn="l">
              <a:lnSpc>
                <a:spcPts val="4399"/>
              </a:lnSpc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Target users or beneficiaries</a:t>
            </a:r>
          </a:p>
          <a:p>
            <a:pPr algn="l">
              <a:lnSpc>
                <a:spcPts val="4399"/>
              </a:lnSpc>
            </a:pPr>
            <a:endParaRPr lang="en-US" sz="3999" b="1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46244" y="508283"/>
            <a:ext cx="11158445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 STATEMENT</a:t>
            </a:r>
          </a:p>
        </p:txBody>
      </p:sp>
      <p:sp>
        <p:nvSpPr>
          <p:cNvPr id="3" name="Freeform 3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5576649" y="4327525"/>
            <a:ext cx="10506075" cy="222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Solution Overview</a:t>
            </a:r>
          </a:p>
          <a:p>
            <a:pPr marL="863595" lvl="1" indent="-431797" algn="l">
              <a:lnSpc>
                <a:spcPts val="43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Short explanation of the proposed solution</a:t>
            </a:r>
          </a:p>
          <a:p>
            <a:pPr marL="863595" lvl="1" indent="-431797" algn="l">
              <a:lnSpc>
                <a:spcPts val="43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Key features or capabilities of the system</a:t>
            </a:r>
          </a:p>
          <a:p>
            <a:pPr algn="l">
              <a:lnSpc>
                <a:spcPts val="4399"/>
              </a:lnSpc>
              <a:spcBef>
                <a:spcPct val="0"/>
              </a:spcBef>
            </a:pPr>
            <a:endParaRPr lang="en-US" sz="3999" b="1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4"/>
              <a:stretch>
                <a:fillRect t="-1179" b="-1179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46244" y="508283"/>
            <a:ext cx="11158445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 STATEMENT</a:t>
            </a:r>
          </a:p>
        </p:txBody>
      </p:sp>
      <p:sp>
        <p:nvSpPr>
          <p:cNvPr id="3" name="Freeform 3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472861" y="2648823"/>
            <a:ext cx="13815139" cy="498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System Architecture (Final)</a:t>
            </a:r>
          </a:p>
          <a:p>
            <a:pPr algn="l">
              <a:lnSpc>
                <a:spcPts val="43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Provide the final architecture of the system showing all components and how they interact.</a:t>
            </a:r>
          </a:p>
          <a:p>
            <a:pPr algn="l">
              <a:lnSpc>
                <a:spcPts val="43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This may include:</a:t>
            </a:r>
          </a:p>
          <a:p>
            <a:pPr marL="863595" lvl="1" indent="-431797" algn="l">
              <a:lnSpc>
                <a:spcPts val="43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Application modules</a:t>
            </a:r>
          </a:p>
          <a:p>
            <a:pPr marL="863595" lvl="1" indent="-431797" algn="l">
              <a:lnSpc>
                <a:spcPts val="43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Hardware components</a:t>
            </a:r>
          </a:p>
          <a:p>
            <a:pPr marL="863595" lvl="1" indent="-431797" algn="l">
              <a:lnSpc>
                <a:spcPts val="43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External services</a:t>
            </a:r>
          </a:p>
          <a:p>
            <a:pPr marL="863595" lvl="1" indent="-431797" algn="l">
              <a:lnSpc>
                <a:spcPts val="43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Communication between system parts</a:t>
            </a:r>
          </a:p>
          <a:p>
            <a:pPr algn="l">
              <a:lnSpc>
                <a:spcPts val="4399"/>
              </a:lnSpc>
              <a:spcBef>
                <a:spcPct val="0"/>
              </a:spcBef>
            </a:pPr>
            <a:endParaRPr lang="en-US" sz="3999" b="1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4"/>
              <a:stretch>
                <a:fillRect t="-1179" b="-1179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3146244" y="508283"/>
            <a:ext cx="11158445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 STATEMENT</a:t>
            </a:r>
          </a:p>
        </p:txBody>
      </p:sp>
      <p:sp>
        <p:nvSpPr>
          <p:cNvPr id="3" name="Freeform 3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207836" y="2372711"/>
            <a:ext cx="9280657" cy="498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Prototype Demonstration</a:t>
            </a:r>
          </a:p>
          <a:p>
            <a:pPr algn="l">
              <a:lnSpc>
                <a:spcPts val="43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Show the current progress of the project.</a:t>
            </a:r>
          </a:p>
          <a:p>
            <a:pPr algn="l">
              <a:lnSpc>
                <a:spcPts val="43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Examples:</a:t>
            </a:r>
          </a:p>
          <a:p>
            <a:pPr marL="863595" lvl="1" indent="-431797" algn="l">
              <a:lnSpc>
                <a:spcPts val="43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Screenshots of the application</a:t>
            </a:r>
          </a:p>
          <a:p>
            <a:pPr marL="863595" lvl="1" indent="-431797" algn="l">
              <a:lnSpc>
                <a:spcPts val="43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Images of hardware setup</a:t>
            </a:r>
          </a:p>
          <a:p>
            <a:pPr marL="863595" lvl="1" indent="-431797" algn="l">
              <a:lnSpc>
                <a:spcPts val="43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Circuit diagrams</a:t>
            </a:r>
          </a:p>
          <a:p>
            <a:pPr marL="863595" lvl="1" indent="-431797" algn="l">
              <a:lnSpc>
                <a:spcPts val="43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Working modules</a:t>
            </a:r>
          </a:p>
          <a:p>
            <a:pPr marL="863595" lvl="1" indent="-431797" algn="l">
              <a:lnSpc>
                <a:spcPts val="43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Interaction between components</a:t>
            </a:r>
          </a:p>
          <a:p>
            <a:pPr algn="l">
              <a:lnSpc>
                <a:spcPts val="4399"/>
              </a:lnSpc>
              <a:spcBef>
                <a:spcPct val="0"/>
              </a:spcBef>
            </a:pPr>
            <a:endParaRPr lang="en-US" sz="3999" b="1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grpSp>
        <p:nvGrpSpPr>
          <p:cNvPr id="5" name="Group 5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4"/>
              <a:stretch>
                <a:fillRect t="-1179" b="-1179"/>
              </a:stretch>
            </a:blipFill>
          </p:spPr>
        </p:sp>
      </p:grpSp>
      <p:sp>
        <p:nvSpPr>
          <p:cNvPr id="7" name="Freeform 7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2"/>
              <a:stretch>
                <a:fillRect t="-1179" b="-117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146244" y="508283"/>
            <a:ext cx="11158445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564811" y="1812117"/>
            <a:ext cx="11136127" cy="3327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99"/>
              </a:lnSpc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System Workflow</a:t>
            </a:r>
          </a:p>
          <a:p>
            <a:pPr algn="l">
              <a:lnSpc>
                <a:spcPts val="43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Explain the current working flow of the prototype.</a:t>
            </a:r>
          </a:p>
          <a:p>
            <a:pPr algn="l">
              <a:lnSpc>
                <a:spcPts val="43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Example:</a:t>
            </a:r>
          </a:p>
          <a:p>
            <a:pPr algn="l">
              <a:lnSpc>
                <a:spcPts val="4399"/>
              </a:lnSpc>
              <a:spcBef>
                <a:spcPct val="0"/>
              </a:spcBef>
            </a:pPr>
            <a:r>
              <a:rPr lang="en-US" sz="3999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 Input → Processing → Output</a:t>
            </a:r>
          </a:p>
          <a:p>
            <a:pPr algn="l">
              <a:lnSpc>
                <a:spcPts val="4399"/>
              </a:lnSpc>
              <a:spcBef>
                <a:spcPct val="0"/>
              </a:spcBef>
            </a:pPr>
            <a:endParaRPr lang="en-US" sz="3999" b="1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2"/>
              <a:stretch>
                <a:fillRect t="-1179" b="-117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146244" y="508283"/>
            <a:ext cx="11158445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49237" y="3084044"/>
            <a:ext cx="12542044" cy="32235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56"/>
              </a:lnSpc>
            </a:pPr>
            <a:r>
              <a:rPr lang="en-US" sz="3323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Progress So Far</a:t>
            </a:r>
          </a:p>
          <a:p>
            <a:pPr algn="l">
              <a:lnSpc>
                <a:spcPts val="3656"/>
              </a:lnSpc>
              <a:spcBef>
                <a:spcPct val="0"/>
              </a:spcBef>
            </a:pPr>
            <a:r>
              <a:rPr lang="en-US" sz="3323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Briefly explain what has been completed since the first checkpoint.</a:t>
            </a:r>
          </a:p>
          <a:p>
            <a:pPr algn="l">
              <a:lnSpc>
                <a:spcPts val="3656"/>
              </a:lnSpc>
              <a:spcBef>
                <a:spcPct val="0"/>
              </a:spcBef>
            </a:pPr>
            <a:r>
              <a:rPr lang="en-US" sz="3323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Examples:</a:t>
            </a:r>
          </a:p>
          <a:p>
            <a:pPr marL="717588" lvl="1" indent="-358794" algn="l">
              <a:lnSpc>
                <a:spcPts val="3656"/>
              </a:lnSpc>
              <a:buFont typeface="Arial"/>
              <a:buChar char="•"/>
            </a:pPr>
            <a:r>
              <a:rPr lang="en-US" sz="3323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UI development</a:t>
            </a:r>
          </a:p>
          <a:p>
            <a:pPr marL="717588" lvl="1" indent="-358794" algn="l">
              <a:lnSpc>
                <a:spcPts val="3656"/>
              </a:lnSpc>
              <a:buFont typeface="Arial"/>
              <a:buChar char="•"/>
            </a:pPr>
            <a:r>
              <a:rPr lang="en-US" sz="3323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Backend setup</a:t>
            </a:r>
          </a:p>
          <a:p>
            <a:pPr marL="717588" lvl="1" indent="-358794" algn="l">
              <a:lnSpc>
                <a:spcPts val="3656"/>
              </a:lnSpc>
              <a:buFont typeface="Arial"/>
              <a:buChar char="•"/>
            </a:pPr>
            <a:r>
              <a:rPr lang="en-US" sz="3323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Hardware assembly</a:t>
            </a:r>
          </a:p>
          <a:p>
            <a:pPr marL="717588" lvl="1" indent="-358794" algn="l">
              <a:lnSpc>
                <a:spcPts val="3656"/>
              </a:lnSpc>
              <a:buFont typeface="Arial"/>
              <a:buChar char="•"/>
            </a:pPr>
            <a:r>
              <a:rPr lang="en-US" sz="3323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Module integration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041993" y="441608"/>
            <a:ext cx="1317891" cy="1060450"/>
            <a:chOff x="0" y="0"/>
            <a:chExt cx="912277" cy="7340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12277" cy="734070"/>
            </a:xfrm>
            <a:custGeom>
              <a:avLst/>
              <a:gdLst/>
              <a:ahLst/>
              <a:cxnLst/>
              <a:rect l="l" t="t" r="r" b="b"/>
              <a:pathLst>
                <a:path w="912277" h="734070">
                  <a:moveTo>
                    <a:pt x="0" y="0"/>
                  </a:moveTo>
                  <a:lnTo>
                    <a:pt x="912277" y="0"/>
                  </a:lnTo>
                  <a:lnTo>
                    <a:pt x="912277" y="734070"/>
                  </a:lnTo>
                  <a:lnTo>
                    <a:pt x="0" y="734070"/>
                  </a:lnTo>
                  <a:close/>
                </a:path>
              </a:pathLst>
            </a:custGeom>
            <a:blipFill>
              <a:blip r:embed="rId2"/>
              <a:stretch>
                <a:fillRect t="-1179" b="-1179"/>
              </a:stretch>
            </a:blipFill>
          </p:spPr>
        </p:sp>
      </p:grpSp>
      <p:sp>
        <p:nvSpPr>
          <p:cNvPr id="4" name="Freeform 4"/>
          <p:cNvSpPr/>
          <p:nvPr/>
        </p:nvSpPr>
        <p:spPr>
          <a:xfrm>
            <a:off x="-2727836" y="6579681"/>
            <a:ext cx="8418204" cy="7760054"/>
          </a:xfrm>
          <a:custGeom>
            <a:avLst/>
            <a:gdLst/>
            <a:ahLst/>
            <a:cxnLst/>
            <a:rect l="l" t="t" r="r" b="b"/>
            <a:pathLst>
              <a:path w="8418204" h="7760054">
                <a:moveTo>
                  <a:pt x="0" y="0"/>
                </a:moveTo>
                <a:lnTo>
                  <a:pt x="8418204" y="0"/>
                </a:lnTo>
                <a:lnTo>
                  <a:pt x="8418204" y="7760054"/>
                </a:lnTo>
                <a:lnTo>
                  <a:pt x="0" y="77600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6359884" y="566257"/>
            <a:ext cx="1798832" cy="811151"/>
          </a:xfrm>
          <a:custGeom>
            <a:avLst/>
            <a:gdLst/>
            <a:ahLst/>
            <a:cxnLst/>
            <a:rect l="l" t="t" r="r" b="b"/>
            <a:pathLst>
              <a:path w="1798832" h="811151">
                <a:moveTo>
                  <a:pt x="0" y="0"/>
                </a:moveTo>
                <a:lnTo>
                  <a:pt x="1798832" y="0"/>
                </a:lnTo>
                <a:lnTo>
                  <a:pt x="1798832" y="811151"/>
                </a:lnTo>
                <a:lnTo>
                  <a:pt x="0" y="8111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113" r="-98552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146244" y="508283"/>
            <a:ext cx="11158445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B04B47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PROBLEM STATEMENT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140597" y="3256436"/>
            <a:ext cx="10118064" cy="3416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Key Achievements</a:t>
            </a:r>
          </a:p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Highlight the main accomplishments of the project.</a:t>
            </a:r>
          </a:p>
          <a:p>
            <a:pPr algn="l">
              <a:lnSpc>
                <a:spcPts val="3850"/>
              </a:lnSpc>
              <a:spcBef>
                <a:spcPct val="0"/>
              </a:spcBef>
            </a:pPr>
            <a:r>
              <a:rPr lang="en-US" sz="35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Examples:</a:t>
            </a:r>
          </a:p>
          <a:p>
            <a:pPr marL="755651" lvl="1" indent="-377825" algn="l">
              <a:lnSpc>
                <a:spcPts val="3850"/>
              </a:lnSpc>
              <a:buFont typeface="Arial"/>
              <a:buChar char="•"/>
            </a:pPr>
            <a:r>
              <a:rPr lang="en-US" sz="35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Features implemented</a:t>
            </a:r>
          </a:p>
          <a:p>
            <a:pPr marL="755651" lvl="1" indent="-377825" algn="l">
              <a:lnSpc>
                <a:spcPts val="3850"/>
              </a:lnSpc>
              <a:buFont typeface="Arial"/>
              <a:buChar char="•"/>
            </a:pPr>
            <a:r>
              <a:rPr lang="en-US" sz="35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Successful integrations</a:t>
            </a:r>
          </a:p>
          <a:p>
            <a:pPr marL="755651" lvl="1" indent="-377825" algn="l">
              <a:lnSpc>
                <a:spcPts val="3850"/>
              </a:lnSpc>
              <a:buFont typeface="Arial"/>
              <a:buChar char="•"/>
            </a:pPr>
            <a:r>
              <a:rPr lang="en-US" sz="3500" b="1">
                <a:solidFill>
                  <a:srgbClr val="FFFF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System capabilities</a:t>
            </a:r>
          </a:p>
          <a:p>
            <a:pPr algn="l">
              <a:lnSpc>
                <a:spcPts val="3850"/>
              </a:lnSpc>
            </a:pPr>
            <a:endParaRPr lang="en-US" sz="3500" b="1">
              <a:solidFill>
                <a:srgbClr val="FFFFFF"/>
              </a:solidFill>
              <a:latin typeface="HK Grotesk Bold"/>
              <a:ea typeface="HK Grotesk Bold"/>
              <a:cs typeface="HK Grotesk Bold"/>
              <a:sym typeface="HK Grotesk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754256" y="565150"/>
            <a:ext cx="2172912" cy="99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699"/>
              </a:lnSpc>
            </a:pPr>
            <a:r>
              <a:rPr lang="en-US" sz="6999" b="1">
                <a:solidFill>
                  <a:srgbClr val="FFC700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CP3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177</Words>
  <Application>Microsoft Office PowerPoint</Application>
  <PresentationFormat>Custom</PresentationFormat>
  <Paragraphs>55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HK Grotesk 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Copy of CheckPoint2</dc:title>
  <cp:lastModifiedBy>mowleesh 2005</cp:lastModifiedBy>
  <cp:revision>1</cp:revision>
  <dcterms:created xsi:type="dcterms:W3CDTF">2006-08-16T00:00:00Z</dcterms:created>
  <dcterms:modified xsi:type="dcterms:W3CDTF">2026-03-05T18:56:27Z</dcterms:modified>
  <dc:identifier>DAHDGdJM3Cw</dc:identifier>
</cp:coreProperties>
</file>