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HK Grotesk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ED24EB-B380-411B-B41A-73736A55B1E3}" v="16" dt="2026-03-06T04:12:03.2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965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wleesh 2005" userId="5ef3632554806af8" providerId="LiveId" clId="{212EA225-ACD5-46B9-BC8C-8A22474D3A98}"/>
    <pc:docChg chg="undo custSel modSld">
      <pc:chgData name="mowleesh 2005" userId="5ef3632554806af8" providerId="LiveId" clId="{212EA225-ACD5-46B9-BC8C-8A22474D3A98}" dt="2026-03-06T04:20:18.043" v="416" actId="1076"/>
      <pc:docMkLst>
        <pc:docMk/>
      </pc:docMkLst>
      <pc:sldChg chg="modSp mod">
        <pc:chgData name="mowleesh 2005" userId="5ef3632554806af8" providerId="LiveId" clId="{212EA225-ACD5-46B9-BC8C-8A22474D3A98}" dt="2026-03-06T03:39:28.001" v="216" actId="20577"/>
        <pc:sldMkLst>
          <pc:docMk/>
          <pc:sldMk cId="0" sldId="257"/>
        </pc:sldMkLst>
        <pc:spChg chg="mod">
          <ac:chgData name="mowleesh 2005" userId="5ef3632554806af8" providerId="LiveId" clId="{212EA225-ACD5-46B9-BC8C-8A22474D3A98}" dt="2026-03-06T03:39:28.001" v="216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mowleesh 2005" userId="5ef3632554806af8" providerId="LiveId" clId="{212EA225-ACD5-46B9-BC8C-8A22474D3A98}" dt="2026-03-05T18:36:41.113" v="132" actId="207"/>
        <pc:sldMkLst>
          <pc:docMk/>
          <pc:sldMk cId="0" sldId="258"/>
        </pc:sldMkLst>
        <pc:spChg chg="mod">
          <ac:chgData name="mowleesh 2005" userId="5ef3632554806af8" providerId="LiveId" clId="{212EA225-ACD5-46B9-BC8C-8A22474D3A98}" dt="2026-03-05T18:36:41.113" v="132" actId="207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mowleesh 2005" userId="5ef3632554806af8" providerId="LiveId" clId="{212EA225-ACD5-46B9-BC8C-8A22474D3A98}" dt="2026-03-05T18:38:25.046" v="145" actId="207"/>
        <pc:sldMkLst>
          <pc:docMk/>
          <pc:sldMk cId="0" sldId="259"/>
        </pc:sldMkLst>
        <pc:spChg chg="mod">
          <ac:chgData name="mowleesh 2005" userId="5ef3632554806af8" providerId="LiveId" clId="{212EA225-ACD5-46B9-BC8C-8A22474D3A98}" dt="2026-03-05T18:38:25.046" v="145" actId="20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mowleesh 2005" userId="5ef3632554806af8" providerId="LiveId" clId="{212EA225-ACD5-46B9-BC8C-8A22474D3A98}" dt="2026-03-05T18:41:01.150" v="158" actId="207"/>
        <pc:sldMkLst>
          <pc:docMk/>
          <pc:sldMk cId="0" sldId="260"/>
        </pc:sldMkLst>
        <pc:spChg chg="mod">
          <ac:chgData name="mowleesh 2005" userId="5ef3632554806af8" providerId="LiveId" clId="{212EA225-ACD5-46B9-BC8C-8A22474D3A98}" dt="2026-03-05T18:41:01.150" v="158" actId="207"/>
          <ac:spMkLst>
            <pc:docMk/>
            <pc:sldMk cId="0" sldId="260"/>
            <ac:spMk id="4" creationId="{00000000-0000-0000-0000-000000000000}"/>
          </ac:spMkLst>
        </pc:spChg>
      </pc:sldChg>
      <pc:sldChg chg="addSp delSp modSp mod">
        <pc:chgData name="mowleesh 2005" userId="5ef3632554806af8" providerId="LiveId" clId="{212EA225-ACD5-46B9-BC8C-8A22474D3A98}" dt="2026-03-06T03:33:38.192" v="204" actId="14100"/>
        <pc:sldMkLst>
          <pc:docMk/>
          <pc:sldMk cId="0" sldId="261"/>
        </pc:sldMkLst>
        <pc:spChg chg="mod">
          <ac:chgData name="mowleesh 2005" userId="5ef3632554806af8" providerId="LiveId" clId="{212EA225-ACD5-46B9-BC8C-8A22474D3A98}" dt="2026-03-06T03:31:07.390" v="198" actId="20577"/>
          <ac:spMkLst>
            <pc:docMk/>
            <pc:sldMk cId="0" sldId="261"/>
            <ac:spMk id="7" creationId="{00000000-0000-0000-0000-000000000000}"/>
          </ac:spMkLst>
        </pc:spChg>
        <pc:picChg chg="add del mod">
          <ac:chgData name="mowleesh 2005" userId="5ef3632554806af8" providerId="LiveId" clId="{212EA225-ACD5-46B9-BC8C-8A22474D3A98}" dt="2026-03-05T13:46:55.804" v="108" actId="931"/>
          <ac:picMkLst>
            <pc:docMk/>
            <pc:sldMk cId="0" sldId="261"/>
            <ac:picMk id="10" creationId="{B638591B-A3EC-7089-3A8F-7B523A900CB9}"/>
          </ac:picMkLst>
        </pc:picChg>
        <pc:picChg chg="add del mod ord">
          <ac:chgData name="mowleesh 2005" userId="5ef3632554806af8" providerId="LiveId" clId="{212EA225-ACD5-46B9-BC8C-8A22474D3A98}" dt="2026-03-06T03:22:51.026" v="194" actId="931"/>
          <ac:picMkLst>
            <pc:docMk/>
            <pc:sldMk cId="0" sldId="261"/>
            <ac:picMk id="10" creationId="{F9A17E44-31CF-42D6-5E2E-9258F78FB750}"/>
          </ac:picMkLst>
        </pc:picChg>
        <pc:picChg chg="add mod ord">
          <ac:chgData name="mowleesh 2005" userId="5ef3632554806af8" providerId="LiveId" clId="{212EA225-ACD5-46B9-BC8C-8A22474D3A98}" dt="2026-03-06T03:33:38.192" v="204" actId="14100"/>
          <ac:picMkLst>
            <pc:docMk/>
            <pc:sldMk cId="0" sldId="261"/>
            <ac:picMk id="12" creationId="{EEE0D97B-9910-C5FA-BA8F-13DC6F1680B5}"/>
          </ac:picMkLst>
        </pc:picChg>
      </pc:sldChg>
      <pc:sldChg chg="modSp mod">
        <pc:chgData name="mowleesh 2005" userId="5ef3632554806af8" providerId="LiveId" clId="{212EA225-ACD5-46B9-BC8C-8A22474D3A98}" dt="2026-03-06T04:20:18.043" v="416" actId="1076"/>
        <pc:sldMkLst>
          <pc:docMk/>
          <pc:sldMk cId="0" sldId="262"/>
        </pc:sldMkLst>
        <pc:spChg chg="mod">
          <ac:chgData name="mowleesh 2005" userId="5ef3632554806af8" providerId="LiveId" clId="{212EA225-ACD5-46B9-BC8C-8A22474D3A98}" dt="2026-03-06T03:36:11.788" v="209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mowleesh 2005" userId="5ef3632554806af8" providerId="LiveId" clId="{212EA225-ACD5-46B9-BC8C-8A22474D3A98}" dt="2026-03-06T04:20:18.043" v="416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mod">
        <pc:chgData name="mowleesh 2005" userId="5ef3632554806af8" providerId="LiveId" clId="{212EA225-ACD5-46B9-BC8C-8A22474D3A98}" dt="2026-03-06T04:12:03.229" v="414" actId="1076"/>
        <pc:sldMkLst>
          <pc:docMk/>
          <pc:sldMk cId="0" sldId="263"/>
        </pc:sldMkLst>
        <pc:spChg chg="mod">
          <ac:chgData name="mowleesh 2005" userId="5ef3632554806af8" providerId="LiveId" clId="{212EA225-ACD5-46B9-BC8C-8A22474D3A98}" dt="2026-03-06T03:36:44.479" v="214" actId="255"/>
          <ac:spMkLst>
            <pc:docMk/>
            <pc:sldMk cId="0" sldId="263"/>
            <ac:spMk id="6" creationId="{00000000-0000-0000-0000-000000000000}"/>
          </ac:spMkLst>
        </pc:spChg>
        <pc:spChg chg="mod">
          <ac:chgData name="mowleesh 2005" userId="5ef3632554806af8" providerId="LiveId" clId="{212EA225-ACD5-46B9-BC8C-8A22474D3A98}" dt="2026-03-06T04:11:43.988" v="413" actId="1076"/>
          <ac:spMkLst>
            <pc:docMk/>
            <pc:sldMk cId="0" sldId="263"/>
            <ac:spMk id="8" creationId="{00000000-0000-0000-0000-000000000000}"/>
          </ac:spMkLst>
        </pc:spChg>
        <pc:spChg chg="add del mod">
          <ac:chgData name="mowleesh 2005" userId="5ef3632554806af8" providerId="LiveId" clId="{212EA225-ACD5-46B9-BC8C-8A22474D3A98}" dt="2026-03-06T04:11:11.262" v="409"/>
          <ac:spMkLst>
            <pc:docMk/>
            <pc:sldMk cId="0" sldId="263"/>
            <ac:spMk id="9" creationId="{6EA9E8A7-7F8A-E42E-4416-51DFA9DF6460}"/>
          </ac:spMkLst>
        </pc:spChg>
        <pc:picChg chg="add mod">
          <ac:chgData name="mowleesh 2005" userId="5ef3632554806af8" providerId="LiveId" clId="{212EA225-ACD5-46B9-BC8C-8A22474D3A98}" dt="2026-03-06T04:12:03.229" v="414" actId="1076"/>
          <ac:picMkLst>
            <pc:docMk/>
            <pc:sldMk cId="0" sldId="263"/>
            <ac:picMk id="1026" creationId="{6DF8206E-9913-7DFE-9756-C2D6978C908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03935" y="565150"/>
            <a:ext cx="11158445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</a:t>
            </a:r>
            <a:r>
              <a:rPr lang="en-US" sz="6999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REATIVE </a:t>
            </a:r>
            <a:r>
              <a:rPr lang="en-US" sz="6999" b="1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</a:t>
            </a:r>
            <a:r>
              <a:rPr lang="en-US" sz="6999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ENESIS 2026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891688" y="3122391"/>
            <a:ext cx="5661778" cy="5044403"/>
            <a:chOff x="0" y="0"/>
            <a:chExt cx="912277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2277" cy="812800"/>
            </a:xfrm>
            <a:custGeom>
              <a:avLst/>
              <a:gdLst/>
              <a:ahLst/>
              <a:cxnLst/>
              <a:rect l="l" t="t" r="r" b="b"/>
              <a:pathLst>
                <a:path w="912277" h="812800">
                  <a:moveTo>
                    <a:pt x="0" y="0"/>
                  </a:moveTo>
                  <a:lnTo>
                    <a:pt x="912277" y="0"/>
                  </a:lnTo>
                  <a:lnTo>
                    <a:pt x="91227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4086" r="-4086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261748" y="2630266"/>
            <a:ext cx="3644252" cy="576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TITLE PAGE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778" y="3207219"/>
            <a:ext cx="10972022" cy="734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5" lvl="1" indent="-431797">
              <a:lnSpc>
                <a:spcPts val="4399"/>
              </a:lnSpc>
              <a:buFont typeface="Arial"/>
              <a:buChar char="•"/>
            </a:pPr>
            <a:endParaRPr lang="en-US" sz="4000" b="1" dirty="0">
              <a:solidFill>
                <a:srgbClr val="FFFFFF"/>
              </a:solidFill>
              <a:latin typeface="Times New Roman" panose="02020603050405020304" pitchFamily="18" charset="0"/>
              <a:ea typeface="HK Grotesk Bold"/>
              <a:cs typeface="Times New Roman" panose="02020603050405020304" pitchFamily="18" charset="0"/>
              <a:sym typeface="HK Grotesk Bold"/>
            </a:endParaRPr>
          </a:p>
          <a:p>
            <a:pPr marL="863595" lvl="1" indent="-431797">
              <a:lnSpc>
                <a:spcPts val="4399"/>
              </a:lnSpc>
              <a:buFont typeface="Arial"/>
              <a:buChar char="•"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PROBLEM STATEMENT TITLE :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ased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edication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dherence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racker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K Grotesk Bold"/>
            </a:endParaRPr>
          </a:p>
          <a:p>
            <a:pPr marL="863595" lvl="1" indent="-431797">
              <a:lnSpc>
                <a:spcPts val="4399"/>
              </a:lnSpc>
              <a:buFont typeface="Arial"/>
              <a:buChar char="•"/>
            </a:pPr>
            <a:endParaRPr lang="en-US" sz="4000" b="1" dirty="0">
              <a:solidFill>
                <a:srgbClr val="FFFFFF"/>
              </a:solidFill>
              <a:latin typeface="Times New Roman" panose="02020603050405020304" pitchFamily="18" charset="0"/>
              <a:ea typeface="HK Grotesk Bold"/>
              <a:cs typeface="Times New Roman" panose="02020603050405020304" pitchFamily="18" charset="0"/>
              <a:sym typeface="HK Grotesk Bold"/>
            </a:endParaRPr>
          </a:p>
          <a:p>
            <a:pPr marL="863595" lvl="1" indent="-431797">
              <a:lnSpc>
                <a:spcPts val="4399"/>
              </a:lnSpc>
              <a:buFont typeface="Arial"/>
              <a:buChar char="•"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DOMAIN NAME :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H</a:t>
            </a: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ealth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C</a:t>
            </a: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are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T</a:t>
            </a: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echnology</a:t>
            </a:r>
          </a:p>
          <a:p>
            <a:pPr>
              <a:lnSpc>
                <a:spcPts val="4399"/>
              </a:lnSpc>
            </a:pPr>
            <a:endParaRPr lang="en-US" sz="4000" b="1" dirty="0">
              <a:solidFill>
                <a:srgbClr val="FFFFFF"/>
              </a:solidFill>
              <a:latin typeface="Times New Roman" panose="02020603050405020304" pitchFamily="18" charset="0"/>
              <a:ea typeface="HK Grotesk Bold"/>
              <a:cs typeface="Times New Roman" panose="02020603050405020304" pitchFamily="18" charset="0"/>
              <a:sym typeface="HK Grotesk Bold"/>
            </a:endParaRPr>
          </a:p>
          <a:p>
            <a:pPr marL="863595" lvl="1" indent="-431797">
              <a:lnSpc>
                <a:spcPts val="4399"/>
              </a:lnSpc>
              <a:buFont typeface="Arial"/>
              <a:buChar char="•"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PROBLEM STATEMENT: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ased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edication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dherence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racker</a:t>
            </a:r>
            <a:endParaRPr lang="en-US" sz="4000" b="1" dirty="0">
              <a:solidFill>
                <a:srgbClr val="FFFFFF"/>
              </a:solidFill>
              <a:latin typeface="Times New Roman" panose="02020603050405020304" pitchFamily="18" charset="0"/>
              <a:ea typeface="HK Grotesk Bold"/>
              <a:cs typeface="Times New Roman" panose="02020603050405020304" pitchFamily="18" charset="0"/>
              <a:sym typeface="HK Grotesk Bold"/>
            </a:endParaRPr>
          </a:p>
          <a:p>
            <a:pPr>
              <a:lnSpc>
                <a:spcPts val="4399"/>
              </a:lnSpc>
            </a:pPr>
            <a:endParaRPr lang="en-US" sz="4000" b="1" dirty="0">
              <a:solidFill>
                <a:srgbClr val="FFFFFF"/>
              </a:solidFill>
              <a:latin typeface="Times New Roman" panose="02020603050405020304" pitchFamily="18" charset="0"/>
              <a:ea typeface="HK Grotesk Bold"/>
              <a:cs typeface="Times New Roman" panose="02020603050405020304" pitchFamily="18" charset="0"/>
              <a:sym typeface="HK Grotesk Bold"/>
            </a:endParaRPr>
          </a:p>
          <a:p>
            <a:pPr marL="863595" lvl="1" indent="-431797">
              <a:lnSpc>
                <a:spcPts val="4399"/>
              </a:lnSpc>
              <a:buFont typeface="Arial"/>
              <a:buChar char="•"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TEAM-ID: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K</a:t>
            </a: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GH224</a:t>
            </a:r>
          </a:p>
          <a:p>
            <a:pPr>
              <a:lnSpc>
                <a:spcPts val="4399"/>
              </a:lnSpc>
            </a:pPr>
            <a:endParaRPr lang="en-US" sz="4000" b="1" dirty="0">
              <a:solidFill>
                <a:srgbClr val="FFFFFF"/>
              </a:solidFill>
              <a:latin typeface="Times New Roman" panose="02020603050405020304" pitchFamily="18" charset="0"/>
              <a:ea typeface="HK Grotesk Bold"/>
              <a:cs typeface="Times New Roman" panose="02020603050405020304" pitchFamily="18" charset="0"/>
              <a:sym typeface="HK Grotesk Bold"/>
            </a:endParaRPr>
          </a:p>
          <a:p>
            <a:pPr marL="863595" lvl="1" indent="-431797">
              <a:lnSpc>
                <a:spcPts val="4399"/>
              </a:lnSpc>
              <a:buFont typeface="Arial"/>
              <a:buChar char="•"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TEAM NAME: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T</a:t>
            </a: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ech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T</a:t>
            </a: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onic</a:t>
            </a:r>
          </a:p>
          <a:p>
            <a:pPr marL="863595" lvl="1" indent="-431797" algn="l">
              <a:lnSpc>
                <a:spcPts val="4399"/>
              </a:lnSpc>
              <a:buFont typeface="Arial"/>
              <a:buChar char="•"/>
            </a:pPr>
            <a:endParaRPr lang="en-US" sz="3999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1200296" y="1331401"/>
            <a:ext cx="3062016" cy="2917266"/>
          </a:xfrm>
          <a:custGeom>
            <a:avLst/>
            <a:gdLst/>
            <a:ahLst/>
            <a:cxnLst/>
            <a:rect l="l" t="t" r="r" b="b"/>
            <a:pathLst>
              <a:path w="3062016" h="2917266">
                <a:moveTo>
                  <a:pt x="0" y="0"/>
                </a:moveTo>
                <a:lnTo>
                  <a:pt x="3062015" y="0"/>
                </a:lnTo>
                <a:lnTo>
                  <a:pt x="3062015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2"/>
              <a:stretch>
                <a:fillRect t="-1179" b="-1179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4"/>
              <a:stretch>
                <a:fillRect t="-1179" b="-1179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146244" y="508283"/>
            <a:ext cx="12169956" cy="942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7699"/>
              </a:lnSpc>
            </a:pPr>
            <a:r>
              <a:rPr lang="en-IN" sz="5400" b="1" dirty="0">
                <a:solidFill>
                  <a:srgbClr val="FF0000"/>
                </a:solidFill>
              </a:rPr>
              <a:t>AI-Based Medication Adherence Tracker</a:t>
            </a:r>
            <a:endParaRPr lang="en-US" sz="5400" b="1" dirty="0">
              <a:solidFill>
                <a:srgbClr val="B04B47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352800" y="1714500"/>
            <a:ext cx="15621000" cy="9040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999" b="1" u="sng" dirty="0">
                <a:solidFill>
                  <a:srgbClr val="FF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</a:t>
            </a:r>
            <a:r>
              <a:rPr lang="en-US" sz="3999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roblem </a:t>
            </a:r>
            <a:r>
              <a:rPr lang="en-US" sz="3999" b="1" u="sng" dirty="0">
                <a:solidFill>
                  <a:srgbClr val="FF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</a:t>
            </a:r>
            <a:r>
              <a:rPr lang="en-US" sz="3999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verview</a:t>
            </a:r>
          </a:p>
          <a:p>
            <a:pPr marL="863595" lvl="1" indent="-431797">
              <a:lnSpc>
                <a:spcPts val="4399"/>
              </a:lnSpc>
              <a:buFont typeface="Arial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Many patients forget to take their medicines on time or take the wrong dosage. </a:t>
            </a:r>
          </a:p>
          <a:p>
            <a:pPr marL="863595" lvl="1" indent="-431797">
              <a:lnSpc>
                <a:spcPts val="4399"/>
              </a:lnSpc>
              <a:buFont typeface="Arial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This leads to poor treatment results, health conditions, and sometimes serious complications.</a:t>
            </a:r>
          </a:p>
          <a:p>
            <a:pPr marL="863595" lvl="1" indent="-431797">
              <a:lnSpc>
                <a:spcPts val="4399"/>
              </a:lnSpc>
              <a:buFont typeface="Arial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An AI-based medication adherence tracker helps by reminding patients to take their medicines, monitoring their medication schedule, and alerting caregivers or doctors </a:t>
            </a:r>
          </a:p>
          <a:p>
            <a:pPr marL="431798" lvl="1">
              <a:lnSpc>
                <a:spcPts val="4399"/>
              </a:lnSpc>
            </a:pPr>
            <a:r>
              <a:rPr lang="en-US" sz="28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	if doses are missed. </a:t>
            </a:r>
          </a:p>
          <a:p>
            <a:pPr marL="863595" lvl="1" indent="-431797">
              <a:lnSpc>
                <a:spcPts val="4399"/>
              </a:lnSpc>
              <a:buFont typeface="Arial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This improves patient safety and treatment effectiveness.</a:t>
            </a:r>
          </a:p>
          <a:p>
            <a:pPr marL="431798" lvl="1" algn="l">
              <a:lnSpc>
                <a:spcPts val="4399"/>
              </a:lnSpc>
            </a:pPr>
            <a:r>
              <a:rPr lang="en-US" sz="28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</a:t>
            </a:r>
          </a:p>
          <a:p>
            <a:pPr marL="431798" lvl="1" algn="l">
              <a:lnSpc>
                <a:spcPts val="4399"/>
              </a:lnSpc>
            </a:pPr>
            <a:r>
              <a:rPr lang="en-US" sz="40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</a:t>
            </a:r>
            <a:r>
              <a:rPr lang="en-US" sz="4000" b="1" u="sng" dirty="0">
                <a:solidFill>
                  <a:srgbClr val="FF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</a:t>
            </a:r>
            <a:r>
              <a:rPr lang="en-US" sz="4000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arget </a:t>
            </a:r>
            <a:r>
              <a:rPr lang="en-US" sz="4000" b="1" u="sng" dirty="0">
                <a:solidFill>
                  <a:srgbClr val="FF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</a:t>
            </a:r>
            <a:r>
              <a:rPr lang="en-US" sz="4000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sers or </a:t>
            </a:r>
            <a:r>
              <a:rPr lang="en-US" sz="4000" b="1" u="sng" dirty="0">
                <a:solidFill>
                  <a:srgbClr val="FF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</a:t>
            </a:r>
            <a:r>
              <a:rPr lang="en-US" sz="4000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eneficiaries</a:t>
            </a:r>
          </a:p>
          <a:p>
            <a:pPr marL="2260598" lvl="4" indent="-457200">
              <a:lnSpc>
                <a:spcPts val="4399"/>
              </a:lnSpc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Elderly patients – Helps them remember to take medicines on time.</a:t>
            </a:r>
          </a:p>
          <a:p>
            <a:pPr marL="2260598" lvl="4" indent="-457200">
              <a:lnSpc>
                <a:spcPts val="4399"/>
              </a:lnSpc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Patients with chronic diseases like Diabetes and Hypertension.</a:t>
            </a:r>
          </a:p>
          <a:p>
            <a:pPr marL="2260598" lvl="4" indent="-457200">
              <a:lnSpc>
                <a:spcPts val="4399"/>
              </a:lnSpc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Caregivers / family members – Receive alerts if medication is missed.</a:t>
            </a:r>
          </a:p>
          <a:p>
            <a:pPr marL="2260598" lvl="4" indent="-457200">
              <a:lnSpc>
                <a:spcPts val="4399"/>
              </a:lnSpc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Doctors and healthcare providers – Can monitor patient medication adherence.</a:t>
            </a:r>
          </a:p>
          <a:p>
            <a:pPr marL="431798" lvl="1">
              <a:lnSpc>
                <a:spcPts val="4399"/>
              </a:lnSpc>
            </a:pPr>
            <a:r>
              <a:rPr lang="en-US" sz="2800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                         </a:t>
            </a:r>
          </a:p>
          <a:p>
            <a:pPr algn="l">
              <a:lnSpc>
                <a:spcPts val="4399"/>
              </a:lnSpc>
            </a:pPr>
            <a:endParaRPr lang="en-US" sz="3999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27168" y="508283"/>
            <a:ext cx="12541432" cy="948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699"/>
              </a:lnSpc>
            </a:pPr>
            <a:r>
              <a:rPr lang="en-US" sz="5400" b="1" dirty="0">
                <a:solidFill>
                  <a:srgbClr val="C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AI-Based Medication Adherence Tracker</a:t>
            </a:r>
          </a:p>
        </p:txBody>
      </p:sp>
      <p:sp>
        <p:nvSpPr>
          <p:cNvPr id="3" name="Freeform 3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66800" y="2095500"/>
            <a:ext cx="18135599" cy="9040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999" b="1" u="sng" dirty="0">
                <a:solidFill>
                  <a:srgbClr val="FF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</a:t>
            </a:r>
            <a:r>
              <a:rPr lang="en-US" sz="3999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olution </a:t>
            </a:r>
            <a:r>
              <a:rPr lang="en-US" sz="3999" b="1" u="sng" dirty="0">
                <a:solidFill>
                  <a:srgbClr val="FF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</a:t>
            </a:r>
            <a:r>
              <a:rPr lang="en-US" sz="3999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verview</a:t>
            </a:r>
          </a:p>
          <a:p>
            <a:pPr marL="457200" indent="-457200">
              <a:lnSpc>
                <a:spcPts val="4399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The AI-based Medication Adherence Tracker is designed to help patients take their medicines on time. </a:t>
            </a:r>
          </a:p>
          <a:p>
            <a:pPr marL="457200" indent="-457200">
              <a:lnSpc>
                <a:spcPts val="4399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The system uses a smart pillbox connected to a microcontroller such as the Arduino Uno or ESP32 and</a:t>
            </a:r>
          </a:p>
          <a:p>
            <a:pPr>
              <a:lnSpc>
                <a:spcPts val="4399"/>
              </a:lnSpc>
            </a:pPr>
            <a:r>
              <a:rPr lang="en-US" sz="28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 a mobile application.</a:t>
            </a:r>
          </a:p>
          <a:p>
            <a:pPr marL="457200" indent="-457200">
              <a:lnSpc>
                <a:spcPts val="4399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The user enters the medication schedule in the app, and the system provides reminders through</a:t>
            </a:r>
          </a:p>
          <a:p>
            <a:pPr>
              <a:lnSpc>
                <a:spcPts val="4399"/>
              </a:lnSpc>
            </a:pPr>
            <a:r>
              <a:rPr lang="en-US" sz="28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 alarms or notifications.</a:t>
            </a:r>
          </a:p>
          <a:p>
            <a:pPr marL="431798" lvl="1" algn="l">
              <a:lnSpc>
                <a:spcPts val="43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            </a:t>
            </a:r>
          </a:p>
          <a:p>
            <a:pPr marL="431798" lvl="1" algn="l">
              <a:lnSpc>
                <a:spcPts val="43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			  </a:t>
            </a:r>
            <a:r>
              <a:rPr lang="en-US" sz="3999" b="1" dirty="0">
                <a:solidFill>
                  <a:srgbClr val="FF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</a:t>
            </a:r>
            <a:r>
              <a:rPr lang="en-US" sz="39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ey </a:t>
            </a:r>
            <a:r>
              <a:rPr lang="en-US" sz="3999" b="1" dirty="0">
                <a:solidFill>
                  <a:srgbClr val="FF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</a:t>
            </a:r>
            <a:r>
              <a:rPr lang="en-US" sz="39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eatures or </a:t>
            </a:r>
            <a:r>
              <a:rPr lang="en-US" sz="3999" b="1" dirty="0">
                <a:solidFill>
                  <a:srgbClr val="FF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</a:t>
            </a:r>
            <a:r>
              <a:rPr lang="en-US" sz="39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apabilities of the </a:t>
            </a:r>
            <a:r>
              <a:rPr lang="en-US" sz="3999" b="1" dirty="0">
                <a:solidFill>
                  <a:srgbClr val="FF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</a:t>
            </a:r>
            <a:r>
              <a:rPr lang="en-US" sz="39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ystem</a:t>
            </a:r>
          </a:p>
          <a:p>
            <a:pPr marL="4089398" lvl="8" indent="-457200">
              <a:lnSpc>
                <a:spcPts val="43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Smart reminders to alert patients to take medicine on time.</a:t>
            </a:r>
          </a:p>
          <a:p>
            <a:pPr marL="4089398" lvl="8" indent="-457200">
              <a:lnSpc>
                <a:spcPts val="43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Automatic pill detection using sensors when the box is opened.</a:t>
            </a:r>
          </a:p>
          <a:p>
            <a:pPr marL="4089398" lvl="8" indent="-457200">
              <a:lnSpc>
                <a:spcPts val="43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AI monitoring to track medication habits and missed doses.</a:t>
            </a:r>
          </a:p>
          <a:p>
            <a:pPr marL="4089398" lvl="8" indent="-457200">
              <a:lnSpc>
                <a:spcPts val="43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Caregiver alerts if the patient misses a medication.</a:t>
            </a:r>
          </a:p>
          <a:p>
            <a:pPr marL="4089398" lvl="8" indent="-457200">
              <a:lnSpc>
                <a:spcPts val="43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Mobile app integration to manage schedules and reminders.</a:t>
            </a:r>
          </a:p>
          <a:p>
            <a:pPr marL="431798" lvl="1">
              <a:lnSpc>
                <a:spcPts val="4399"/>
              </a:lnSpc>
              <a:spcBef>
                <a:spcPct val="0"/>
              </a:spcBef>
            </a:pPr>
            <a:endParaRPr lang="en-US" sz="2800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431798" lvl="1" algn="l">
              <a:lnSpc>
                <a:spcPts val="4399"/>
              </a:lnSpc>
              <a:spcBef>
                <a:spcPct val="0"/>
              </a:spcBef>
            </a:pPr>
            <a:endParaRPr lang="en-US" sz="3999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3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CP2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4"/>
              <a:stretch>
                <a:fillRect t="-1179" b="-1179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508283"/>
            <a:ext cx="16924144" cy="1997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IN" sz="5400" b="1" dirty="0">
                <a:solidFill>
                  <a:srgbClr val="FF0000"/>
                </a:solidFill>
              </a:rPr>
              <a:t>AI-Based Medication Adherence Tracker</a:t>
            </a:r>
            <a:endParaRPr lang="en-US" sz="5400" b="1" dirty="0">
              <a:solidFill>
                <a:srgbClr val="B04B47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0" lvl="0" indent="0" algn="ctr">
              <a:lnSpc>
                <a:spcPts val="7699"/>
              </a:lnSpc>
            </a:pPr>
            <a:endParaRPr lang="en-US" sz="6999" b="1" dirty="0">
              <a:solidFill>
                <a:srgbClr val="B04B47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35182" y="1623243"/>
            <a:ext cx="17505218" cy="8897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999" b="1" u="sng" dirty="0">
                <a:solidFill>
                  <a:srgbClr val="FF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</a:t>
            </a:r>
            <a:r>
              <a:rPr lang="en-US" sz="3999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rototype </a:t>
            </a:r>
            <a:r>
              <a:rPr lang="en-US" sz="3999" b="1" u="sng" dirty="0">
                <a:solidFill>
                  <a:srgbClr val="FF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</a:t>
            </a:r>
            <a:r>
              <a:rPr lang="en-US" sz="3999" b="1" u="sng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verview</a:t>
            </a:r>
          </a:p>
          <a:p>
            <a:r>
              <a:rPr lang="en-US" sz="39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	</a:t>
            </a:r>
            <a:r>
              <a:rPr lang="en-US" sz="3600" b="1" u="sng" dirty="0">
                <a:solidFill>
                  <a:srgbClr val="FF0000"/>
                </a:solidFill>
              </a:rPr>
              <a:t>C</a:t>
            </a:r>
            <a:r>
              <a:rPr lang="en-US" sz="3600" b="1" u="sng" dirty="0">
                <a:solidFill>
                  <a:schemeClr val="bg1"/>
                </a:solidFill>
              </a:rPr>
              <a:t>urrent </a:t>
            </a:r>
            <a:r>
              <a:rPr lang="en-US" sz="3600" b="1" u="sng" dirty="0">
                <a:solidFill>
                  <a:srgbClr val="FF0000"/>
                </a:solidFill>
              </a:rPr>
              <a:t>P</a:t>
            </a:r>
            <a:r>
              <a:rPr lang="en-US" sz="3600" b="1" u="sng" dirty="0">
                <a:solidFill>
                  <a:schemeClr val="bg1"/>
                </a:solidFill>
              </a:rPr>
              <a:t>rototype </a:t>
            </a:r>
            <a:r>
              <a:rPr lang="en-US" sz="3600" b="1" u="sng" dirty="0">
                <a:solidFill>
                  <a:srgbClr val="FF0000"/>
                </a:solidFill>
              </a:rPr>
              <a:t>O</a:t>
            </a:r>
            <a:r>
              <a:rPr lang="en-US" sz="3600" b="1" u="sng" dirty="0">
                <a:solidFill>
                  <a:schemeClr val="bg1"/>
                </a:solidFill>
              </a:rPr>
              <a:t>verview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 basic prototype of the AI-Based Medication Adherence Tracker has been developed to remind patients to take medicines on time.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The system provides alerts and displays medication information to improve adherence.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	</a:t>
            </a:r>
            <a:r>
              <a:rPr lang="en-US" sz="3200" b="1" u="sng" dirty="0">
                <a:solidFill>
                  <a:srgbClr val="FF0000"/>
                </a:solidFill>
              </a:rPr>
              <a:t>A</a:t>
            </a:r>
            <a:r>
              <a:rPr lang="en-US" sz="3200" b="1" u="sng" dirty="0">
                <a:solidFill>
                  <a:schemeClr val="bg1"/>
                </a:solidFill>
              </a:rPr>
              <a:t>pplication </a:t>
            </a:r>
            <a:r>
              <a:rPr lang="en-US" sz="3200" b="1" u="sng" dirty="0">
                <a:solidFill>
                  <a:srgbClr val="FF0000"/>
                </a:solidFill>
              </a:rPr>
              <a:t>I</a:t>
            </a:r>
            <a:r>
              <a:rPr lang="en-US" sz="3200" b="1" u="sng" dirty="0">
                <a:solidFill>
                  <a:schemeClr val="bg1"/>
                </a:solidFill>
              </a:rPr>
              <a:t>nterface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 simple interface is designed to set medicine schedules and reminder times.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The interface can show notification alerts and medication status.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	</a:t>
            </a:r>
            <a:r>
              <a:rPr lang="en-US" sz="3200" b="1" u="sng" dirty="0">
                <a:solidFill>
                  <a:srgbClr val="FF0000"/>
                </a:solidFill>
              </a:rPr>
              <a:t>H</a:t>
            </a:r>
            <a:r>
              <a:rPr lang="en-US" sz="3200" b="1" u="sng" dirty="0">
                <a:solidFill>
                  <a:schemeClr val="bg1"/>
                </a:solidFill>
              </a:rPr>
              <a:t>ardware </a:t>
            </a:r>
            <a:r>
              <a:rPr lang="en-US" sz="3200" b="1" u="sng" dirty="0">
                <a:solidFill>
                  <a:srgbClr val="FF0000"/>
                </a:solidFill>
              </a:rPr>
              <a:t>S</a:t>
            </a:r>
            <a:r>
              <a:rPr lang="en-US" sz="3200" b="1" u="sng" dirty="0">
                <a:solidFill>
                  <a:schemeClr val="bg1"/>
                </a:solidFill>
              </a:rPr>
              <a:t>etup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The prototype hardware includes microcontroller, RTC module, display, buzzer, and voice module.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All components are assembled in a small medicine box structure.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			     </a:t>
            </a:r>
            <a:r>
              <a:rPr lang="en-US" sz="3200" b="1" u="sng" dirty="0">
                <a:solidFill>
                  <a:srgbClr val="FF0000"/>
                </a:solidFill>
              </a:rPr>
              <a:t>C</a:t>
            </a:r>
            <a:r>
              <a:rPr lang="en-US" sz="3200" b="1" u="sng" dirty="0">
                <a:solidFill>
                  <a:schemeClr val="bg1"/>
                </a:solidFill>
              </a:rPr>
              <a:t>ircuit </a:t>
            </a:r>
            <a:r>
              <a:rPr lang="en-US" sz="3200" b="1" u="sng" dirty="0">
                <a:solidFill>
                  <a:srgbClr val="FF0000"/>
                </a:solidFill>
              </a:rPr>
              <a:t>D</a:t>
            </a:r>
            <a:r>
              <a:rPr lang="en-US" sz="3200" b="1" u="sng" dirty="0">
                <a:solidFill>
                  <a:schemeClr val="bg1"/>
                </a:solidFill>
              </a:rPr>
              <a:t>esign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RTC module and OLED display are connected to the microcontroller using I2C communication.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Buzzer and sensor modules are connected to digital input/output pins.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			</a:t>
            </a:r>
            <a:r>
              <a:rPr lang="en-US" sz="3200" b="1" dirty="0">
                <a:solidFill>
                  <a:srgbClr val="FF0000"/>
                </a:solidFill>
              </a:rPr>
              <a:t>     </a:t>
            </a:r>
            <a:r>
              <a:rPr lang="en-US" sz="3200" b="1" u="sng" dirty="0">
                <a:solidFill>
                  <a:srgbClr val="FF0000"/>
                </a:solidFill>
              </a:rPr>
              <a:t>S</a:t>
            </a:r>
            <a:r>
              <a:rPr lang="en-US" sz="3200" b="1" u="sng" dirty="0">
                <a:solidFill>
                  <a:schemeClr val="bg1"/>
                </a:solidFill>
              </a:rPr>
              <a:t>ystem </a:t>
            </a:r>
            <a:r>
              <a:rPr lang="en-US" sz="3200" b="1" u="sng" dirty="0">
                <a:solidFill>
                  <a:srgbClr val="FF0000"/>
                </a:solidFill>
              </a:rPr>
              <a:t>M</a:t>
            </a:r>
            <a:r>
              <a:rPr lang="en-US" sz="3200" b="1" u="sng" dirty="0">
                <a:solidFill>
                  <a:schemeClr val="bg1"/>
                </a:solidFill>
              </a:rPr>
              <a:t>odules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Reminder module generates alerts when it is time to take medicine.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Detection and monitoring modules track whether the medicine box is opened.</a:t>
            </a:r>
          </a:p>
          <a:p>
            <a:pPr algn="l">
              <a:lnSpc>
                <a:spcPts val="4399"/>
              </a:lnSpc>
              <a:spcBef>
                <a:spcPct val="0"/>
              </a:spcBef>
            </a:pPr>
            <a:endParaRPr lang="en-US" sz="3999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CP2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4"/>
              <a:stretch>
                <a:fillRect t="-1179" b="-1179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1000" y="2095500"/>
            <a:ext cx="20116800" cy="8712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C</a:t>
            </a:r>
            <a:r>
              <a:rPr lang="en-US" sz="3200" b="1" u="sng" dirty="0">
                <a:solidFill>
                  <a:schemeClr val="bg1"/>
                </a:solidFill>
              </a:rPr>
              <a:t>urrent </a:t>
            </a:r>
            <a:r>
              <a:rPr lang="en-US" sz="3200" b="1" u="sng" dirty="0">
                <a:solidFill>
                  <a:srgbClr val="FF0000"/>
                </a:solidFill>
              </a:rPr>
              <a:t>P</a:t>
            </a:r>
            <a:r>
              <a:rPr lang="en-US" sz="3200" b="1" u="sng" dirty="0">
                <a:solidFill>
                  <a:schemeClr val="bg1"/>
                </a:solidFill>
              </a:rPr>
              <a:t>roject </a:t>
            </a:r>
            <a:r>
              <a:rPr lang="en-US" sz="3200" b="1" u="sng" dirty="0">
                <a:solidFill>
                  <a:srgbClr val="FF0000"/>
                </a:solidFill>
              </a:rPr>
              <a:t>P</a:t>
            </a:r>
            <a:r>
              <a:rPr lang="en-US" sz="3200" b="1" u="sng" dirty="0">
                <a:solidFill>
                  <a:schemeClr val="bg1"/>
                </a:solidFill>
              </a:rPr>
              <a:t>rogress</a:t>
            </a:r>
            <a:endParaRPr lang="en-US" sz="3200" u="sng" dirty="0">
              <a:solidFill>
                <a:schemeClr val="bg1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Basic prototype hardware has been assembled and tested.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The reminder system is functioning and alerts the user at the scheduled time.</a:t>
            </a:r>
          </a:p>
          <a:p>
            <a:r>
              <a:rPr lang="en-US" sz="4000" b="1" dirty="0">
                <a:solidFill>
                  <a:schemeClr val="bg1"/>
                </a:solidFill>
              </a:rPr>
              <a:t> </a:t>
            </a:r>
            <a:r>
              <a:rPr lang="en-US" sz="3200" b="1" u="sng" dirty="0">
                <a:solidFill>
                  <a:srgbClr val="FF0000"/>
                </a:solidFill>
              </a:rPr>
              <a:t>A</a:t>
            </a:r>
            <a:r>
              <a:rPr lang="en-US" sz="3200" b="1" u="sng" dirty="0">
                <a:solidFill>
                  <a:schemeClr val="bg1"/>
                </a:solidFill>
              </a:rPr>
              <a:t>pplication </a:t>
            </a:r>
            <a:r>
              <a:rPr lang="en-US" sz="3200" b="1" u="sng" dirty="0">
                <a:solidFill>
                  <a:srgbClr val="FF0000"/>
                </a:solidFill>
              </a:rPr>
              <a:t>S</a:t>
            </a:r>
            <a:r>
              <a:rPr lang="en-US" sz="3200" b="1" u="sng" dirty="0">
                <a:solidFill>
                  <a:schemeClr val="bg1"/>
                </a:solidFill>
              </a:rPr>
              <a:t>creenshots</a:t>
            </a:r>
            <a:endParaRPr lang="en-US" sz="3200" u="sng" dirty="0">
              <a:solidFill>
                <a:schemeClr val="bg1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Screenshots show the interface for setting medicine reminders.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The application displays medicine name, time, and reminder notifications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</a:p>
          <a:p>
            <a:r>
              <a:rPr lang="en-US" sz="4000" b="1" dirty="0">
                <a:solidFill>
                  <a:schemeClr val="bg1"/>
                </a:solidFill>
              </a:rPr>
              <a:t> </a:t>
            </a:r>
            <a:r>
              <a:rPr lang="en-US" sz="3200" b="1" u="sng" dirty="0">
                <a:solidFill>
                  <a:srgbClr val="FF0000"/>
                </a:solidFill>
              </a:rPr>
              <a:t>H</a:t>
            </a:r>
            <a:r>
              <a:rPr lang="en-US" sz="3200" b="1" u="sng" dirty="0">
                <a:solidFill>
                  <a:schemeClr val="bg1"/>
                </a:solidFill>
              </a:rPr>
              <a:t>ardware </a:t>
            </a:r>
            <a:r>
              <a:rPr lang="en-US" sz="3200" b="1" u="sng" dirty="0">
                <a:solidFill>
                  <a:srgbClr val="FF0000"/>
                </a:solidFill>
              </a:rPr>
              <a:t>S</a:t>
            </a:r>
            <a:r>
              <a:rPr lang="en-US" sz="3200" b="1" u="sng" dirty="0">
                <a:solidFill>
                  <a:schemeClr val="bg1"/>
                </a:solidFill>
              </a:rPr>
              <a:t>etup </a:t>
            </a:r>
            <a:r>
              <a:rPr lang="en-US" sz="3200" b="1" u="sng" dirty="0">
                <a:solidFill>
                  <a:srgbClr val="FF0000"/>
                </a:solidFill>
              </a:rPr>
              <a:t>I</a:t>
            </a:r>
            <a:r>
              <a:rPr lang="en-US" sz="3200" b="1" u="sng" dirty="0">
                <a:solidFill>
                  <a:schemeClr val="bg1"/>
                </a:solidFill>
              </a:rPr>
              <a:t>mages</a:t>
            </a:r>
            <a:endParaRPr lang="en-US" sz="3200" u="sng" dirty="0">
              <a:solidFill>
                <a:schemeClr val="bg1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The prototype includes a microcontroller such as ESP8266 connected with other modules.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Hardware setup shows components like OLED Display, buzzer, and RTC module.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				</a:t>
            </a:r>
            <a:r>
              <a:rPr lang="en-US" sz="3200" b="1" u="sng" dirty="0">
                <a:solidFill>
                  <a:srgbClr val="FF0000"/>
                </a:solidFill>
              </a:rPr>
              <a:t>C</a:t>
            </a:r>
            <a:r>
              <a:rPr lang="en-US" sz="3200" b="1" u="sng" dirty="0">
                <a:solidFill>
                  <a:schemeClr val="bg1"/>
                </a:solidFill>
              </a:rPr>
              <a:t>ircuit </a:t>
            </a:r>
            <a:r>
              <a:rPr lang="en-US" sz="3200" b="1" u="sng" dirty="0">
                <a:solidFill>
                  <a:srgbClr val="FF0000"/>
                </a:solidFill>
              </a:rPr>
              <a:t>D</a:t>
            </a:r>
            <a:r>
              <a:rPr lang="en-US" sz="3200" b="1" u="sng" dirty="0">
                <a:solidFill>
                  <a:schemeClr val="bg1"/>
                </a:solidFill>
              </a:rPr>
              <a:t>iagram</a:t>
            </a:r>
            <a:endParaRPr lang="en-US" sz="3200" u="sng" dirty="0">
              <a:solidFill>
                <a:schemeClr val="bg1"/>
              </a:solidFill>
            </a:endParaRP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Circuit diagram illustrates the connections between the microcontroller and sensors.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Modules like DS3231 RTC Module and display are connected through I2C communication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</a:p>
          <a:p>
            <a:r>
              <a:rPr lang="en-US" sz="4000" b="1" dirty="0">
                <a:solidFill>
                  <a:schemeClr val="bg1"/>
                </a:solidFill>
              </a:rPr>
              <a:t> 				</a:t>
            </a:r>
            <a:r>
              <a:rPr lang="en-US" sz="3200" b="1" u="sng" dirty="0">
                <a:solidFill>
                  <a:srgbClr val="FF0000"/>
                </a:solidFill>
              </a:rPr>
              <a:t>W</a:t>
            </a:r>
            <a:r>
              <a:rPr lang="en-US" sz="3200" b="1" u="sng" dirty="0">
                <a:solidFill>
                  <a:schemeClr val="bg1"/>
                </a:solidFill>
              </a:rPr>
              <a:t>orking </a:t>
            </a:r>
            <a:r>
              <a:rPr lang="en-US" sz="3200" b="1" u="sng" dirty="0">
                <a:solidFill>
                  <a:srgbClr val="FF0000"/>
                </a:solidFill>
              </a:rPr>
              <a:t>M</a:t>
            </a:r>
            <a:r>
              <a:rPr lang="en-US" sz="3200" b="1" u="sng" dirty="0">
                <a:solidFill>
                  <a:schemeClr val="bg1"/>
                </a:solidFill>
              </a:rPr>
              <a:t>odules</a:t>
            </a:r>
            <a:endParaRPr lang="en-US" sz="3200" u="sng" dirty="0">
              <a:solidFill>
                <a:schemeClr val="bg1"/>
              </a:solidFill>
            </a:endParaRP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Reminder module activates alerts when the medicine time is reached.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Display and voice modules show and announce medication information.</a:t>
            </a:r>
          </a:p>
          <a:p>
            <a:pPr algn="l">
              <a:lnSpc>
                <a:spcPts val="4399"/>
              </a:lnSpc>
              <a:spcBef>
                <a:spcPct val="0"/>
              </a:spcBef>
            </a:pPr>
            <a:endParaRPr lang="en-US" sz="2800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399"/>
              </a:lnSpc>
              <a:spcBef>
                <a:spcPct val="0"/>
              </a:spcBef>
            </a:pPr>
            <a:endParaRPr lang="en-US" sz="3999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CP2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4"/>
              <a:stretch>
                <a:fillRect t="-1179" b="-1179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DF352E-0B57-EBAD-BA2B-5C422488D649}"/>
              </a:ext>
            </a:extLst>
          </p:cNvPr>
          <p:cNvSpPr txBox="1"/>
          <p:nvPr/>
        </p:nvSpPr>
        <p:spPr>
          <a:xfrm>
            <a:off x="1364581" y="441608"/>
            <a:ext cx="15240000" cy="1034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IN" sz="5400" b="1" dirty="0">
                <a:solidFill>
                  <a:srgbClr val="FF0000"/>
                </a:solidFill>
              </a:rPr>
              <a:t>AI-Based Medication Adherence Tracker</a:t>
            </a:r>
            <a:endParaRPr lang="en-US" sz="5400" b="1" dirty="0">
              <a:solidFill>
                <a:srgbClr val="B04B47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EE0D97B-9910-C5FA-BA8F-13DC6F168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551396"/>
            <a:ext cx="11217456" cy="7478304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3"/>
              <a:stretch>
                <a:fillRect t="-1179" b="-117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13" r="-9855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146244" y="508283"/>
            <a:ext cx="12703356" cy="1997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IN" sz="5400" b="1" dirty="0">
                <a:solidFill>
                  <a:srgbClr val="FF0000"/>
                </a:solidFill>
              </a:rPr>
              <a:t>AI-Based Medication Adherence Tracker</a:t>
            </a:r>
            <a:endParaRPr lang="en-US" sz="5400" b="1" dirty="0">
              <a:solidFill>
                <a:srgbClr val="B04B47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0" lvl="0" indent="0" algn="ctr">
              <a:lnSpc>
                <a:spcPts val="7699"/>
              </a:lnSpc>
            </a:pPr>
            <a:endParaRPr lang="en-US" sz="6999" b="1" dirty="0">
              <a:solidFill>
                <a:srgbClr val="B04B47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810000" y="2933700"/>
            <a:ext cx="11136127" cy="114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9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</a:p>
          <a:p>
            <a:pPr algn="l">
              <a:lnSpc>
                <a:spcPts val="4399"/>
              </a:lnSpc>
              <a:spcBef>
                <a:spcPct val="0"/>
              </a:spcBef>
            </a:pPr>
            <a:endParaRPr lang="en-US" sz="3999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2"/>
              <a:stretch>
                <a:fillRect t="-1179" b="-117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62200" y="508283"/>
            <a:ext cx="12679793" cy="1997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00" b="1" dirty="0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IN" sz="5400" b="1" dirty="0">
                <a:solidFill>
                  <a:srgbClr val="FF0000"/>
                </a:solidFill>
              </a:rPr>
              <a:t>AI-Based Medication Adherence Tracker</a:t>
            </a:r>
            <a:endParaRPr lang="en-US" sz="5400" b="1" dirty="0">
              <a:solidFill>
                <a:srgbClr val="B04B47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0" lvl="0" indent="0" algn="ctr">
              <a:lnSpc>
                <a:spcPts val="7699"/>
              </a:lnSpc>
            </a:pPr>
            <a:endParaRPr lang="en-US" sz="6999" b="1" dirty="0">
              <a:solidFill>
                <a:srgbClr val="B04B47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3400" y="1615792"/>
            <a:ext cx="18592800" cy="86956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323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U</a:t>
            </a:r>
            <a:r>
              <a:rPr lang="en-US" sz="3200" b="1" dirty="0">
                <a:solidFill>
                  <a:schemeClr val="bg1"/>
                </a:solidFill>
              </a:rPr>
              <a:t>I </a:t>
            </a:r>
            <a:r>
              <a:rPr lang="en-US" sz="3200" b="1" dirty="0">
                <a:solidFill>
                  <a:srgbClr val="FF0000"/>
                </a:solidFill>
              </a:rPr>
              <a:t>D</a:t>
            </a:r>
            <a:r>
              <a:rPr lang="en-US" sz="3200" b="1" dirty="0">
                <a:solidFill>
                  <a:schemeClr val="bg1"/>
                </a:solidFill>
              </a:rPr>
              <a:t>evelopment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Designed a simple user interface for elderly users with clear buttons for medicine reminders and status updates.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Integrated basic display elements to show medicine name, reminder time, and system status.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rgbClr val="FF0000"/>
                </a:solidFill>
              </a:rPr>
              <a:t>B</a:t>
            </a:r>
            <a:r>
              <a:rPr lang="en-US" sz="3200" b="1" dirty="0">
                <a:solidFill>
                  <a:schemeClr val="bg1"/>
                </a:solidFill>
              </a:rPr>
              <a:t>ackend </a:t>
            </a:r>
            <a:r>
              <a:rPr lang="en-US" sz="3200" b="1" dirty="0">
                <a:solidFill>
                  <a:srgbClr val="FF0000"/>
                </a:solidFill>
              </a:rPr>
              <a:t>S</a:t>
            </a:r>
            <a:r>
              <a:rPr lang="en-US" sz="3200" b="1" dirty="0">
                <a:solidFill>
                  <a:schemeClr val="bg1"/>
                </a:solidFill>
              </a:rPr>
              <a:t>etup</a:t>
            </a:r>
            <a:endParaRPr lang="en-US" sz="32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Configured the cloud database (Google Sheets) to store medicine schedules and user response data.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Implemented communication setup between the device and the backend using internet connectivity.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 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                                      </a:t>
            </a:r>
            <a:r>
              <a:rPr lang="en-US" sz="3200" b="1" dirty="0">
                <a:solidFill>
                  <a:srgbClr val="FF0000"/>
                </a:solidFill>
              </a:rPr>
              <a:t>H</a:t>
            </a:r>
            <a:r>
              <a:rPr lang="en-US" sz="3200" b="1" dirty="0">
                <a:solidFill>
                  <a:schemeClr val="bg1"/>
                </a:solidFill>
              </a:rPr>
              <a:t>ardware </a:t>
            </a:r>
            <a:r>
              <a:rPr lang="en-US" sz="3200" b="1" dirty="0">
                <a:solidFill>
                  <a:srgbClr val="FF0000"/>
                </a:solidFill>
              </a:rPr>
              <a:t>A</a:t>
            </a:r>
            <a:r>
              <a:rPr lang="en-US" sz="3200" b="1" dirty="0">
                <a:solidFill>
                  <a:schemeClr val="bg1"/>
                </a:solidFill>
              </a:rPr>
              <a:t>ssembly</a:t>
            </a:r>
            <a:endParaRPr lang="en-US" sz="3200" dirty="0">
              <a:solidFill>
                <a:schemeClr val="bg1"/>
              </a:solidFill>
            </a:endParaRP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Assembled the main components including ESP8266, microphone module, speaker, </a:t>
            </a:r>
          </a:p>
          <a:p>
            <a:pPr lvl="8"/>
            <a:r>
              <a:rPr lang="en-US" sz="2800" dirty="0">
                <a:solidFill>
                  <a:schemeClr val="bg1"/>
                </a:solidFill>
              </a:rPr>
              <a:t>      push buttons, and buzzer.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Completed wiring connections between sensors, display module, and controller board.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			        </a:t>
            </a:r>
            <a:r>
              <a:rPr lang="en-US" sz="3200" b="1" dirty="0">
                <a:solidFill>
                  <a:srgbClr val="FF0000"/>
                </a:solidFill>
              </a:rPr>
              <a:t>M</a:t>
            </a:r>
            <a:r>
              <a:rPr lang="en-US" sz="3200" b="1" dirty="0">
                <a:solidFill>
                  <a:schemeClr val="bg1"/>
                </a:solidFill>
              </a:rPr>
              <a:t>odule </a:t>
            </a:r>
            <a:r>
              <a:rPr lang="en-US" sz="3200" b="1" dirty="0">
                <a:solidFill>
                  <a:srgbClr val="FF0000"/>
                </a:solidFill>
              </a:rPr>
              <a:t>I</a:t>
            </a:r>
            <a:r>
              <a:rPr lang="en-US" sz="3200" b="1" dirty="0">
                <a:solidFill>
                  <a:schemeClr val="bg1"/>
                </a:solidFill>
              </a:rPr>
              <a:t>ntegration</a:t>
            </a:r>
            <a:endParaRPr lang="en-US" sz="3200" dirty="0">
              <a:solidFill>
                <a:schemeClr val="bg1"/>
              </a:solidFill>
            </a:endParaRP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Integrated input modules like push buttons and microphone with the ESP8266 controller.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Connected output modules such as the speaker and buzzer to provide reminders and voice feedback.</a:t>
            </a:r>
          </a:p>
          <a:p>
            <a:pPr algn="l">
              <a:lnSpc>
                <a:spcPts val="3656"/>
              </a:lnSpc>
            </a:pPr>
            <a:endParaRPr lang="en-US" sz="3323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ankodesign.com">
            <a:extLst>
              <a:ext uri="{FF2B5EF4-FFF2-40B4-BE49-F238E27FC236}">
                <a16:creationId xmlns:a16="http://schemas.microsoft.com/office/drawing/2014/main" id="{6DF8206E-9913-7DFE-9756-C2D6978C9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64768" y="3924300"/>
            <a:ext cx="32512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3"/>
              <a:stretch>
                <a:fillRect t="-1179" b="-117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13" r="-9855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43200" y="508283"/>
            <a:ext cx="12298793" cy="1997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6999" b="1" dirty="0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IN" sz="5400" b="1" dirty="0">
                <a:solidFill>
                  <a:srgbClr val="FF0000"/>
                </a:solidFill>
              </a:rPr>
              <a:t>AI-Based Medication Adherence Tracker</a:t>
            </a:r>
            <a:endParaRPr lang="en-US" sz="5400" b="1" dirty="0">
              <a:solidFill>
                <a:srgbClr val="B04B47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0" lvl="0" indent="0" algn="ctr">
              <a:lnSpc>
                <a:spcPts val="7699"/>
              </a:lnSpc>
            </a:pPr>
            <a:endParaRPr lang="en-US" sz="6999" b="1" dirty="0">
              <a:solidFill>
                <a:srgbClr val="B04B47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19766" y="1790700"/>
            <a:ext cx="13118703" cy="5010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Next Steps</a:t>
            </a:r>
          </a:p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Explain what remains to be completed before the final checkpoint.</a:t>
            </a:r>
          </a:p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Examples:</a:t>
            </a:r>
          </a:p>
          <a:p>
            <a:pPr marL="755651" lvl="1" indent="-377825" algn="l">
              <a:lnSpc>
                <a:spcPts val="3850"/>
              </a:lnSpc>
              <a:buFont typeface="Arial"/>
              <a:buChar char="•"/>
            </a:pPr>
            <a:r>
              <a:rPr lang="en-US" sz="35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Feature implementation</a:t>
            </a:r>
          </a:p>
          <a:p>
            <a:pPr marL="755651" lvl="1" indent="-377825" algn="l">
              <a:lnSpc>
                <a:spcPts val="3850"/>
              </a:lnSpc>
              <a:buFont typeface="Arial"/>
              <a:buChar char="•"/>
            </a:pPr>
            <a:endParaRPr lang="en-US" sz="3500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755651" lvl="1" indent="-377825" algn="l">
              <a:lnSpc>
                <a:spcPts val="3850"/>
              </a:lnSpc>
              <a:buFont typeface="Arial"/>
              <a:buChar char="•"/>
            </a:pPr>
            <a:endParaRPr lang="en-US" sz="3500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755651" lvl="1" indent="-377825" algn="l">
              <a:lnSpc>
                <a:spcPts val="3850"/>
              </a:lnSpc>
              <a:buFont typeface="Arial"/>
              <a:buChar char="•"/>
            </a:pPr>
            <a:endParaRPr lang="en-US" sz="3500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377826" lvl="1" algn="l">
              <a:lnSpc>
                <a:spcPts val="3850"/>
              </a:lnSpc>
            </a:pPr>
            <a:endParaRPr lang="en-US" sz="3500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755651" lvl="1" indent="-377825" algn="l">
              <a:lnSpc>
                <a:spcPts val="3850"/>
              </a:lnSpc>
              <a:buFont typeface="Arial"/>
              <a:buChar char="•"/>
            </a:pPr>
            <a:r>
              <a:rPr lang="en-US" sz="35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Testing and optimization</a:t>
            </a:r>
          </a:p>
          <a:p>
            <a:pPr marL="755651" lvl="1" indent="-377825" algn="l">
              <a:lnSpc>
                <a:spcPts val="3850"/>
              </a:lnSpc>
              <a:buFont typeface="Arial"/>
              <a:buChar char="•"/>
            </a:pPr>
            <a:r>
              <a:rPr lang="en-US" sz="35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Integration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786</Words>
  <Application>Microsoft Office PowerPoint</Application>
  <PresentationFormat>Custom</PresentationFormat>
  <Paragraphs>115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HK Grotesk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CheckPoint2</dc:title>
  <cp:lastModifiedBy>mowleesh 2005</cp:lastModifiedBy>
  <cp:revision>2</cp:revision>
  <dcterms:created xsi:type="dcterms:W3CDTF">2006-08-16T00:00:00Z</dcterms:created>
  <dcterms:modified xsi:type="dcterms:W3CDTF">2026-03-06T04:20:24Z</dcterms:modified>
  <dc:identifier>DAHC84CwC7U</dc:identifier>
</cp:coreProperties>
</file>